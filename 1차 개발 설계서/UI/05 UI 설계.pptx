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</a:t>
            </a:r>
          </a:p>
          <a:p>
            <a:r>
              <a:t>권한: 로그인 전</a:t>
            </a:r>
          </a:p>
          <a:p>
            <a:r>
              <a:t>① 카카오톡 이용 불가 시 카카오계정 웹 인증으로 전환한다.</a:t>
            </a:r>
          </a:p>
          <a:p>
            <a:r>
              <a:t>② 공급자 식별값으로 로그인하며 이메일로 계정을 합치지 않는다.</a:t>
            </a:r>
          </a:p>
          <a:p>
            <a:r>
              <a:t>초대 진입 경로와 미완료 작업을 보존한다. 신규 가입이면 UI02, 기존이면 UI03 또는 UI24로 이동한다.</a:t>
            </a:r>
          </a:p>
          <a:p>
            <a:r>
              <a:t>상태: 세션 복원 중에는 스플래시 유지 / 인증 취소는 이전 상태 / 오프라인·인증 실패·서비스 장애를 구분</a:t>
            </a:r>
          </a:p>
          <a:p>
            <a:r>
              <a:t>API: authExchange, sessionRefresh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F02</a:t>
            </a:r>
          </a:p>
          <a:p>
            <a:r>
              <a:t>권한: 최초 가입자</a:t>
            </a:r>
          </a:p>
          <a:p>
            <a:r>
              <a:t>① 항목별 문서와 버전을 열람한다. 실제 동의 항목·문구는 운영 문서 확정 후 적용한다.</a:t>
            </a:r>
          </a:p>
          <a:p>
            <a:r>
              <a:t>② NFC 정규화와 앞뒤 공백 제거 후 사용자 인식 문자 1~20자. 소셜 이름은 제안값이다.</a:t>
            </a:r>
          </a:p>
          <a:p>
            <a:r>
              <a:t>필수 미동의 시 제출 비활성, 선택 거부로 가입을 막지 않는다. 사진 프로필 입력은 제공하지 않는다.</a:t>
            </a:r>
          </a:p>
          <a:p>
            <a:r>
              <a:t>상태: 필수 미선택 / 표시명 공백·21자 / 문서 로딩 실패 / 검사 중·거부 / 초대 복귀</a:t>
            </a:r>
          </a:p>
          <a:p>
            <a:r>
              <a:t>API: onboard, consentDocs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F03 F21 F28</a:t>
            </a:r>
          </a:p>
          <a:p>
            <a:r>
              <a:t>권한: 로그인한 사용자</a:t>
            </a:r>
          </a:p>
          <a:p>
            <a:r>
              <a:t>① 열람은 활동 시각을 갱신하지 않는다. 동률은 생성시각·ID 역순이다.</a:t>
            </a:r>
          </a:p>
          <a:p>
            <a:r>
              <a:t>② 카드 → UI05 모임 달력. 일정 요약은 진행 중→가까운 미래→최근 과거이며 취소는 제외한다.</a:t>
            </a:r>
          </a:p>
          <a:p>
            <a:r>
              <a:t>③ 첫 일정을 포함해 UI04에서 생성. ④ UI24 코드 입력. 종료한 모임은 공동 상세로 열지 않는다.</a:t>
            </a:r>
          </a:p>
          <a:p>
            <a:r>
              <a:t>상태: 로딩 / 모임 없음과 조회 실패 구분 / 30개 커서 / 활성 100개·방장 생성 20개 한도</a:t>
            </a:r>
          </a:p>
          <a:p>
            <a:r>
              <a:t>API: groupsList, groupCreate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F03 F07</a:t>
            </a:r>
          </a:p>
          <a:p>
            <a:r>
              <a:t>권한: 로그인한 사용자</a:t>
            </a:r>
          </a:p>
          <a:p>
            <a:r>
              <a:t>① 모임 이름 1~50자, ② 일정 제목 1~100자. 공개 전 텍스트 검사를 수행한다.</a:t>
            </a:r>
          </a:p>
          <a:p>
            <a:r>
              <a:t>③ 날짜만 입력한다(종일/시간 지정 없음). 종료 날짜 포함 366일 이내, 과거 날짜 허용. ④ 예정 시각은 UI10/UI11에서 방문별로 입력하고 UI08에 표시한다.</a:t>
            </a:r>
          </a:p>
          <a:p>
            <a:r>
              <a:t>⑤ 모임·방장 참여·첫 일정은 하나의 트랜잭션으로 생성한다. 재시도에는 같은 요청 키를 사용한다.</a:t>
            </a:r>
          </a:p>
          <a:p>
            <a:r>
              <a:t>상태: 필수 누락 / 날짜 역전·367일 / 검사 대기 / 결과 확인 필요</a:t>
            </a:r>
          </a:p>
          <a:p>
            <a:r>
              <a:t>API: groupCreate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F06 F07 F08 F11</a:t>
            </a:r>
          </a:p>
          <a:p>
            <a:r>
              <a:t>권한: 현재 참여자</a:t>
            </a:r>
          </a:p>
          <a:p>
            <a:r>
              <a:t>① 월~일 시작. 날짜 셀 최대 3개와 +N을 표시하고 날짜 탭으로 전체 일정을 연다.</a:t>
            </a:r>
          </a:p>
          <a:p>
            <a:r>
              <a:t>② 일정 탭 → UI08로 바로 이동. 날짜를 별도 공간으로 생성하지 않는다. 취소 일정은 표시를 유지한다.</a:t>
            </a:r>
          </a:p>
          <a:p>
            <a:r>
              <a:t>③ 초대·관리에서 모든 현재 참여자가 UI23에 진입한다. 보기 방식은 기기에 보관한다. ④ 현재 방장만 UI06에서 일정을 수동 추가한다. 반복 생성은 없다. 뒤로 오면 월·선택·스크롤을 복원한다.</a:t>
            </a:r>
          </a:p>
          <a:p>
            <a:r>
              <a:t>상태: 달력 로딩 / 일정 없음 / 월 조회 실패 / 같은 날 4개 이상 / 여러 날 일정의 모든 셀 표시 / 날짜 요청 범위 366일</a:t>
            </a:r>
          </a:p>
          <a:p>
            <a:r>
              <a:t>API: calendar, scheduleDelete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F07 F08 F11</a:t>
            </a:r>
          </a:p>
          <a:p>
            <a:r>
              <a:t>권한: 현재 방장</a:t>
            </a:r>
          </a:p>
          <a:p>
            <a:r>
              <a:t>① 제목 100자. ② 날짜만 입력하며 시작 ≤ 종료, 포함 366일. 겹치는 일정은 안내 후 허용한다.</a:t>
            </a:r>
          </a:p>
          <a:p>
            <a:r>
              <a:t>③ 변경 저장 전에 기간 밖이 될 방문·기록 수를 서버가 계산해 확인받는다. 기록은 삭제되지 않고 기간 밖 구역에 유지된다.</a:t>
            </a:r>
          </a:p>
          <a:p>
            <a:r>
              <a:t>④ 기록·업로드가 있으면 삭제 불가이며 취소로 전환한다. 취소 후 신규 촬영·접수는 금지한다. 빈 일정만 완전 삭제한다.</a:t>
            </a:r>
          </a:p>
          <a:p>
            <a:r>
              <a:t>상태: 기간 밖 기록 확인 / 버전 충돌과 입력 보존 / 기록 있는 삭제 거부 / 취소 재활성 거부 / 미저장 이탈 확인</a:t>
            </a:r>
          </a:p>
          <a:p>
            <a:r>
              <a:t>API: scheduleCreate, scheduleUpdate, scheduleCancel, scheduleDelete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F06 F09 F16 F21</a:t>
            </a:r>
          </a:p>
          <a:p>
            <a:r>
              <a:t>권한: 현재 참여자</a:t>
            </a:r>
          </a:p>
          <a:p>
            <a:r>
              <a:t>① 완료 전 예상, 첫 완료 후 고정 기한으로 표시한다. 기한 예시는 2026.10.19 종료에 대응한다.</a:t>
            </a:r>
          </a:p>
          <a:p>
            <a:r>
              <a:t>② 전체가 기본이며 날짜는 필터다. ③ 장소 계획은 방문일별 순서·예정 시각(미입력은 시간 미정)·장소별 개수를 표시한다. 일정에는 시각이 없다.</a:t>
            </a:r>
          </a:p>
          <a:p>
            <a:r>
              <a:t>④ 미지정도 업로드 가능. ⑤ UI10, 날짜별 15개 도달 시 비활성과 사유 표시. ⑥ UI14. 취소·만료 시 새 업로드를 막고 이유를 표시한다.</a:t>
            </a:r>
          </a:p>
          <a:p>
            <a:r>
              <a:t>상태: 빈 일정 / 전체·날짜 필터 / 기간 밖 기록 구역 / 장소 15개 도달 / 취소 / 만료 / 권한 상실</a:t>
            </a:r>
          </a:p>
          <a:p>
            <a:r>
              <a:t>API: scheduleDetail, mediaList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F16 F17 F19</a:t>
            </a:r>
          </a:p>
          <a:p>
            <a:r>
              <a:t>권한: 현재 참여자</a:t>
            </a:r>
          </a:p>
          <a:p>
            <a:r>
              <a:t>① 날짜·방문·장소 미지정 필터. 목록 60개 커서. 카드 하나는 파일 하나다. 기간 밖 기록도 전체 목록에 표시한다.</a:t>
            </a:r>
          </a:p>
          <a:p>
            <a:r>
              <a:t>② 시간순은 촬영 시각 기준(없으면 업로드 완료 시각, 카드에 표시), 오름차순 기본. 사람별 묶음은 작성자 구역으로 묶고 구역 안은 시간순이다. 보기 방식은 기기에 기억한다.</a:t>
            </a:r>
          </a:p>
          <a:p>
            <a:r>
              <a:t>③ 카드 → UI18. ④ 길게 누르기 또는 선택 버튼 → UI16 선택 모드(저장·본인 수정·본인 삭제). 차단한 작성자는 목록·구역에서 제외한다.</a:t>
            </a:r>
          </a:p>
          <a:p>
            <a:r>
              <a:t>상태: 로딩·빈 필터 / 페이지 오류 / 촬영 시각 없음 / 차단·운영제한 집계 반영 / 후속 파일 부분 완료</a:t>
            </a:r>
          </a:p>
          <a:p>
            <a:r>
              <a:t>API: mediaList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F09</a:t>
            </a:r>
          </a:p>
          <a:p>
            <a:r>
              <a:t>권한: 현재 참여자</a:t>
            </a:r>
          </a:p>
          <a:p>
            <a:r>
              <a:t>① 국내 카카오맵 데이터 사용. 늦은 이전 응답은 버린다. 검색어 100자.</a:t>
            </a:r>
          </a:p>
          <a:p>
            <a:r>
              <a:t>② 지도 이동 후 명시적 재검색. 기본은 일정 첫 좌표 방문→기기 마지막 영역→서울시청이다.</a:t>
            </a:r>
          </a:p>
          <a:p>
            <a:r>
              <a:t>③ 현재 위치 버튼 때만 권한 요청. ⑤ 예정 시각은 5분 단위 또는 미정. 같은 일정·방문일·동일 공급자 장소 중복 금지, 날짜별 15개 초과 거부. 저장 뒤 UI08로 돌아간다.</a:t>
            </a:r>
          </a:p>
          <a:p>
            <a:r>
              <a:t>상태: 검색 전 / 결과 없음 / 공급자 오류 / 위치 거절·실패 / 중복 방문 / 장소 15개 도달 / 저장 충돌</a:t>
            </a:r>
          </a:p>
          <a:p>
            <a:r>
              <a:t>API: placesSearch, visitCreate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F09</a:t>
            </a:r>
          </a:p>
          <a:p>
            <a:r>
              <a:t>권한: 현재 참여자</a:t>
            </a:r>
          </a:p>
          <a:p>
            <a:r>
              <a:t>① 이름 1~100자, 주소 200자. 좌표 없는 등록을 허용하며 지도 마커·거리를 만들지 않는다.</a:t>
            </a:r>
          </a:p>
          <a:p>
            <a:r>
              <a:t>② 좌표 비교는 소수점 6자리. 이름·주소 앞뒤·연속 공백 정리 후 세 값이 같으면 중복이다.</a:t>
            </a:r>
          </a:p>
          <a:p>
            <a:r>
              <a:t>③ 방문일 마지막 순서에 추가한다. 예정 시각은 선택 입력(미정 허용)이며 날짜별 15개를 넘으면 거부한다. 공급자 원장에 게시하지 않는다.</a:t>
            </a:r>
          </a:p>
          <a:p>
            <a:r>
              <a:t>상태: 이름 없음 / 좌표 없음 / 동일 수기 정보 중복 / 장소 15개 도달 / 검사 거부 / 재전송 중복 방지</a:t>
            </a:r>
          </a:p>
          <a:p>
            <a:r>
              <a:t>API: visitCreate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F10 F11</a:t>
            </a:r>
          </a:p>
          <a:p>
            <a:r>
              <a:t>권한: 현재 참여자</a:t>
            </a:r>
          </a:p>
          <a:p>
            <a:r>
              <a:t>① 날짜 제목 30자, 비우면 날짜 표시. 날짜 전체 메모는 없다.</a:t>
            </a:r>
          </a:p>
          <a:p>
            <a:r>
              <a:t>② 드래그 외에 위/아래 이동 버튼도 제공한다. 시각 변경으로 자동 재정렬하지 않는다.</a:t>
            </a:r>
          </a:p>
          <a:p>
            <a:r>
              <a:t>③ 5분 단위/미입력 허용, 시각순 정렬 버튼은 눌렀을 때만 재정렬. 편집으로 방문을 추가하지 않으므로 15개 한도는 UI10/11에서 검사. ④ 숨긴 파일·업로드도 서버에서 검사한다. ⑤ 순서·시각·제목과 버전을 함께 저장한다.</a:t>
            </a:r>
          </a:p>
          <a:p>
            <a:r>
              <a:t>상태: 순서 중복·누락 / 타 날짜 혼입 / 버전 충돌 / 미저장 이탈: 저장·버리기·계속</a:t>
            </a:r>
          </a:p>
          <a:p>
            <a:r>
              <a:t>API: planUpdate, visitDelete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F09 F14 F16</a:t>
            </a:r>
          </a:p>
          <a:p>
            <a:r>
              <a:t>권한: 현재 참여자</a:t>
            </a:r>
          </a:p>
          <a:p>
            <a:r>
              <a:t>① 현재 사용자가 볼 수 있는 완료 파일만 집계한다. 차단·운영 제한·삭제·만료를 제외한다. 사람별 묶음은 작성자 구역(먼저 완료한 작성자부터)·접기/펼치기, 시간순은 촬영 시각 기준이다.</a:t>
            </a:r>
          </a:p>
          <a:p>
            <a:r>
              <a:t>② 작성자별 이 방문의 한도(사진 5·영상 2)에서 완료+진행 중 작업을 뺀 남은 수. 0이면 올리기 버튼에 사유를 표시한다.</a:t>
            </a:r>
          </a:p>
          <a:p>
            <a:r>
              <a:t>올리기 → UI14. UI16에서 방문일을 제안하고 사용자가 확인한다. 다른 날짜로 바꾸면 방문을 해제·재선택한다.</a:t>
            </a:r>
          </a:p>
          <a:p>
            <a:r>
              <a:t>상태: 기록 없음 / 파일 검사 중 / 장소 좌표 없음 / 남은 개수 0 / 방문 삭제 충돌</a:t>
            </a:r>
          </a:p>
          <a:p>
            <a:r>
              <a:t>API: mediaList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F12 F13 F14</a:t>
            </a:r>
          </a:p>
          <a:p>
            <a:r>
              <a:t>권한: 현재 참여자</a:t>
            </a:r>
          </a:p>
          <a:p>
            <a:r>
              <a:t>① Photo Picker 우선, 불가 시 문서 선택기. 전체 앨범 권한을 강제하지 않는다.</a:t>
            </a:r>
          </a:p>
          <a:p>
            <a:r>
              <a:t>②·③ 카메라 권한을 필요한 시점에 요청한다. 취소 일정이면 진입 전 신규 작업을 막는다.</a:t>
            </a:r>
          </a:p>
          <a:p>
            <a:r>
              <a:t>촬영·기기 파일 혼합 후보를 같은 제출에 넣고 최초 선택 순서를 유지한다.</a:t>
            </a:r>
          </a:p>
          <a:p>
            <a:r>
              <a:t>상태: 선택 취소 / 121번째 후보 / 권한 거절 / 파일 접근 소실 / 클라우드 다운로드 실패</a:t>
            </a:r>
          </a:p>
          <a:p>
            <a:r>
              <a:t>API: uploadPrepare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F12</a:t>
            </a:r>
          </a:p>
          <a:p>
            <a:r>
              <a:t>권한: 현재 참여자</a:t>
            </a:r>
          </a:p>
          <a:p>
            <a:r>
              <a:t>① 후면 기본. 영상 최대1080p/30fps, 미지원720p. 촬영 전만 전후면 전환 가능하다.</a:t>
            </a:r>
          </a:p>
          <a:p>
            <a:r>
              <a:t>② 기본3초, 기기 마지막 정수1~5초 기억. 자동 종료 ±0.25초, 조기 종료는 0.5초 이상.</a:t>
            </a:r>
          </a:p>
          <a:p>
            <a:r>
              <a:t>③ 마이크 거절이어도 무음 촬영 허용. ④ 녹화 중 정지 버튼. 결과 확인·재촬영·사용, 앱 전환/전화 뒤 유효성 확인.</a:t>
            </a:r>
          </a:p>
          <a:p>
            <a:r>
              <a:t>상태: 카메라 거절 / 녹화 중 / 결과 확인 / 0.5초 미만 / 저장공간 부족 / 권한 회수</a:t>
            </a:r>
          </a:p>
          <a:p>
            <a:r>
              <a:t>API: uploadPrepare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F13 F14 F17 F18 F19</a:t>
            </a:r>
          </a:p>
          <a:p>
            <a:r>
              <a:t>권한: 현재 참여자 또는 본인 기록 경로</a:t>
            </a:r>
          </a:p>
          <a:p>
            <a:r>
              <a:t>① 업로드 전 후보 선택과 기존 기록의 다중 선택이 같은 화면이다(이전 UI19 통합). 길게 누르기 또는 선택 버튼으로 진입하며 최대120개, 불러오지 않은 파일은 자동 선택하지 않는다. 묶음 전체 선택을 지원한다.</a:t>
            </a:r>
          </a:p>
          <a:p>
            <a:r>
              <a:t>③~⑤ 업로드 맥락: 파일별 기록일(일정 범위 안, 단일일 자동·다일은 오늘/시작일 제안)·방문(방문일=기록일, 미지정 허용)·설명 1000자. 선택한 파일에 기록일·방문을 일괄 지정할 수 있다. 방문별 남은 개수를 보여 주고 초과 파일은 제출 전에 표시하며 서버가 파일별로 거부한다.</a:t>
            </a:r>
          </a:p>
          <a:p>
            <a:r>
              <a:t>⑥ 기존 기록 맥락: 저장은 조회 가능한 타인 파일도 가능, 수정은 같은 일정 본인 파일만(UI20), 삭제는 본인만. 타인 혼합이면 수정/삭제 비활성 이유를 표시하고 서버도 거부한다. 본인 보존 경로(UI22)는 삭제만 제공한다.</a:t>
            </a:r>
          </a:p>
          <a:p>
            <a:r>
              <a:t>상태: 사진50MB·100MP / 영상200MB·60초 / 0개·121개 / 방문일 불일치 / 사진5·영상2 초과 / 타인 혼합 / 선택 중 파일 삭제·만료 / 기한 경과</a:t>
            </a:r>
          </a:p>
          <a:p>
            <a:r>
              <a:t>API: uploadPrepare, metadataPatch, mediaDelete, exportCreate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F15 F20 F26</a:t>
            </a:r>
          </a:p>
          <a:p>
            <a:r>
              <a:t>권한: 업로드 작성자</a:t>
            </a:r>
          </a:p>
          <a:p>
            <a:r>
              <a:t>① 완료 파일만 공동 목록 반영. ② 전송100%는 완료가 아니다. 검토 대기는 비공개다.</a:t>
            </a:r>
          </a:p>
          <a:p>
            <a:r>
              <a:t>③ 파일별1·2·4초 최대3회 자동 재시도. 오프라인 대기는 횟수 미소모, 동시3개.</a:t>
            </a:r>
          </a:p>
          <a:p>
            <a:r>
              <a:t>취소 이전 서버 접수한 같은 파일은 일정 취소 후에도 재시도 가능. 권한 소멸·종료·만료·사용자 취소가 우선한다.</a:t>
            </a:r>
          </a:p>
          <a:p>
            <a:r>
              <a:t>상태: 준비·대기 / 전송 / 서버 확인 / 검토 / 완료 / 실패 / 취소 / 결과 확인 필요</a:t>
            </a:r>
          </a:p>
          <a:p>
            <a:r>
              <a:t>API: uploadGet, uploadRetry, uploadCancel, uploadCommit, uploadHead, uploadChunk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F16 F17 F18 F19 F25</a:t>
            </a:r>
          </a:p>
          <a:p>
            <a:r>
              <a:t>권한: 현재 참여자 또는 본인 보존 경로</a:t>
            </a:r>
          </a:p>
          <a:p>
            <a:r>
              <a:t>① 닫으면 영상·소리를 중단하고 목록 위치를 복원한다. ② 촬영 시각이 없으면 업로드 시각만 표시한다.</a:t>
            </a:r>
          </a:p>
          <a:p>
            <a:r>
              <a:t>③ 현재 참여 중이며 조회 가능한 파일만 저장. 다른 앱 공유 버튼은 없다. 나간 뒤 본인 경로는 열람·삭제만 허용한다.</a:t>
            </a:r>
          </a:p>
          <a:p>
            <a:r>
              <a:t>④ 수정은 현재 참여 중 본인 파일만, 삭제는 본인만. 방장도 타인 파일 수정·삭제 불가. 타인 신고·차단은 UI31로 연결한다.</a:t>
            </a:r>
          </a:p>
          <a:p>
            <a:r>
              <a:t>상태: 재생 통신·형식 오류 / 만료 / 삭제 / 퇴장 / 운영 제한 / 보존 경로에서는 저장 숨김</a:t>
            </a:r>
          </a:p>
          <a:p>
            <a:r>
              <a:t>API: mediaStream, metadataPatch, mediaDelete, reportCreate, exportCreate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F17</a:t>
            </a:r>
          </a:p>
          <a:p>
            <a:r>
              <a:t>권한: 현재 참여 중인 작성자</a:t>
            </a:r>
          </a:p>
          <a:p>
            <a:r>
              <a:t>② 필드별 적용/유지, 빈 문자열·방문 해제는 명시적 동작이다. 날짜 변경으로 기존 방문이 안 맞으면 해제·재선택한다.</a:t>
            </a:r>
          </a:p>
          <a:p>
            <a:r>
              <a:t>③ 본인·같은 모임/일정·120개·버전·대상 방문의 사진5/영상2 한도 검증. 설명 검사 중에는 기존 공개 내용을 유지한다.</a:t>
            </a:r>
          </a:p>
          <a:p>
            <a:r>
              <a:t>④ 검사를 통과한 뒤 재검증하여 전체 원자 적용. 하나라도 오류면 전체 미적용과 대상별 이유·입력을 유지한다.</a:t>
            </a:r>
          </a:p>
          <a:p>
            <a:r>
              <a:t>상태: 필드 미선택 / 다른 일정 혼입 / 대상 방문 한도 초과 / 검사 중·거부 / 버전 충돌 / 일부 적용 금지</a:t>
            </a:r>
          </a:p>
          <a:p>
            <a:r>
              <a:t>API: metadataPatch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F19 F20</a:t>
            </a:r>
          </a:p>
          <a:p>
            <a:r>
              <a:t>권한: 현재 참여자</a:t>
            </a:r>
          </a:p>
          <a:p>
            <a:r>
              <a:t>① 원래 해상도의 위치 제거 저장본 우선. 지원 불가 시 호환본과 변환 여부 안내. UI16 선택 모드 또는 UI18에서 진입한다.</a:t>
            </a:r>
          </a:p>
          <a:p>
            <a:r>
              <a:t>③ 내려받기와 기기 쓰기를 구분하고 성공 뒤 경로 표시. 부분 성공이면 실패만 재시도한다. 임시 파일은 기기 쓰기 후 정리한다.</a:t>
            </a:r>
          </a:p>
          <a:p>
            <a:r>
              <a:t>④ OS 공유창·외부 앱 전달은 1차 범위에서 제거했다(2026-10-20 회의). 저장 요청은 purpose=save만 허용한다.</a:t>
            </a:r>
          </a:p>
          <a:p>
            <a:r>
              <a:t>상태: 준비 / 다운로드 / 기기 쓰기 / 부분 실패 / 공간 부족 / 권한 변경</a:t>
            </a:r>
          </a:p>
          <a:p>
            <a:r>
              <a:t>API: exportCreate, exportGet, exportFile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F18 F21</a:t>
            </a:r>
          </a:p>
          <a:p>
            <a:r>
              <a:t>권한: 로그인한 작성자</a:t>
            </a:r>
          </a:p>
          <a:p>
            <a:r>
              <a:t>① 활성 참여·빈자리·초대를 요구하지 않는다. 종료 모임의 본인 보존 파일도 최소 정보와 함께 표시한다.</a:t>
            </a:r>
          </a:p>
          <a:p>
            <a:r>
              <a:t>② 타인 파일·공동 계획·참여자 목록을 노출하지 않는다. 본인 확대/재생/삭제만 가능하다.</a:t>
            </a:r>
          </a:p>
          <a:p>
            <a:r>
              <a:t>삭제는 최대120개·다른 모임 혼합 허용. 사전 권한 오류는 전체 거부, 실행 결과는 파일별 성공·실패·이미삭제로 표시한다.</a:t>
            </a:r>
          </a:p>
          <a:p>
            <a:r>
              <a:t>상태: 참여 중·종료 / 만료 상태30일·설명 숨김 / 파일별 삭제 실패 / 이미 삭제 멱등 성공</a:t>
            </a:r>
          </a:p>
          <a:p>
            <a:r>
              <a:t>API: mineList, mediaDelete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F05</a:t>
            </a:r>
          </a:p>
          <a:p>
            <a:r>
              <a:t>권한: 모든 현재 참여자(방장 포함)</a:t>
            </a:r>
          </a:p>
          <a:p>
            <a:r>
              <a:t>모든 현재 참여자가 같은 모임의 초대를 조회·발급·공유·복사·취소한다. 발급자 본인 여부는 관리 권한의 기준이 아니다. 참여 종료·모임 종료·이용 제한은 서버가 재검증한다.</a:t>
            </a:r>
          </a:p>
          <a:p>
            <a:r>
              <a:t>코드 길이8자는 기술 설계안이며 기능명세의 고정 정책이 아니다. 만료는 서버 발급시각+168시간, 확인 횟수는 서버가 그 초대로 미리보기를 응답한 수이며 50회에 소진된다.</a:t>
            </a:r>
          </a:p>
          <a:p>
            <a:r>
              <a:t>② 모임명·요약·링크·코드만 공유. 공유 취소는 초대 취소가 아니다. 상태는 사용 가능·소진·만료·취소로 구분한다.</a:t>
            </a:r>
          </a:p>
          <a:p>
            <a:r>
              <a:t>④ 새 발급은 기존 초대를 유지하고 횟수는 0부터 시작한다. 같은 요청 재시도는 동일 초대. 참여 확정은 횟수를 소모하지 않으며 소진·취소는 기존 참여자에게 영향이 없다.</a:t>
            </a:r>
          </a:p>
          <a:p>
            <a:r>
              <a:t>상태: 발급 실패·결과 불명 / 취소·만료·소진 / 정원10명 / 일반 참여자 동일 권한 / 비참여·탈퇴·퇴장·이용 제한 거부</a:t>
            </a:r>
          </a:p>
          <a:p>
            <a:r>
              <a:t>API: invitesList, inviteCreate, inviteRevoke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 F05</a:t>
            </a:r>
          </a:p>
          <a:p>
            <a:r>
              <a:t>권한: 초대받은 사용자</a:t>
            </a:r>
          </a:p>
          <a:p>
            <a:r>
              <a:t>② 비로그인 미리보기는 모임명·일정 요약만 공개한다. 대표 사진·참여자·기록·장소 목록은 공개하지 않는다.</a:t>
            </a:r>
          </a:p>
          <a:p>
            <a:r>
              <a:t>③ 인증/가입 뒤 같은 초대 확인으로 복귀한다. 로그인 성공만으로 자동 참여시키지 않는다. 복귀 시 앱이 보관한 확인 결과를 쓰고 확인 횟수를 추가하지 않는다.</a:t>
            </a:r>
          </a:p>
          <a:p>
            <a:r>
              <a:t>④ 확정 시 유효성·정원·차단·활성100모임·이용제한을 재검증한다. 이미 참여했으면 인원 증가 없이 UI05로 이동한다.</a:t>
            </a:r>
          </a:p>
          <a:p>
            <a:r>
              <a:t>상태: 잘못된 코드 / 로그인 전·후 / 만료 / 소진(50회) / 취소 / 정원 초과 / 차단 / 종료 모임 / 이미 참여</a:t>
            </a:r>
          </a:p>
          <a:p>
            <a:r>
              <a:t>API: invitePreview, inviteJoin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F04</a:t>
            </a:r>
          </a:p>
          <a:p>
            <a:r>
              <a:t>권한: 현재 방장</a:t>
            </a:r>
          </a:p>
          <a:p>
            <a:r>
              <a:t>① 사진 한 장 선택·미리보기·교체. 일반 기록 파일에 대표사진 한도를 적용하지 않는다.</a:t>
            </a:r>
          </a:p>
          <a:p>
            <a:r>
              <a:t>② 공백만 금지·50자. 최신 버전과 현재 방장 확인. 새 초대 정보에 변경 이름을 반영한다.</a:t>
            </a:r>
          </a:p>
          <a:p>
            <a:r>
              <a:t>③ 취소·변환·전송·검사 실패·동시 충돌 시 기존 공개 정보와 입력을 유지한다.</a:t>
            </a:r>
          </a:p>
          <a:p>
            <a:r>
              <a:t>상태: 기본 이미지 / 사진 선택·검사 중 / 검사 거부 / 버전 충돌 / 일반 참여자 거부</a:t>
            </a:r>
          </a:p>
          <a:p>
            <a:r>
              <a:t>API: groupUpdate, coverPrepare, uploadHead, uploadChunk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F22 F25</a:t>
            </a:r>
          </a:p>
          <a:p>
            <a:r>
              <a:t>권한: 현재 참여자·방장</a:t>
            </a:r>
          </a:p>
          <a:p>
            <a:r>
              <a:t>목록에는 표시명·방장 표시만 제공한다. 소셜 식별값·연락처는 표시하지 않는다.</a:t>
            </a:r>
          </a:p>
          <a:p>
            <a:r>
              <a:t>① 방장은 타인 퇴장과 모임별 재참여 차단을 함께 처리한다. 완료 파일과 본인 조회/삭제 권한은 유지한다.</a:t>
            </a:r>
          </a:p>
          <a:p>
            <a:r>
              <a:t>② 즉시 이전이며 수락 대기 없음. ③ 방장만 차단 해제, 해제는 자동 재가입이 아니다. 개인 차단은 별도 UI31이다.</a:t>
            </a:r>
          </a:p>
          <a:p>
            <a:r>
              <a:t>상태: 일반 참여자는 이전·퇴장 버튼 없음 / 대상이 나감 / 이전 충돌 / 오래된 퇴장 재시도</a:t>
            </a:r>
          </a:p>
          <a:p>
            <a:r>
              <a:t>API: membersList, ownerTransfer, memberRemove, reentryUnblock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F22 F23</a:t>
            </a:r>
          </a:p>
          <a:p>
            <a:r>
              <a:t>권한: 현재 참여자·방장</a:t>
            </a:r>
          </a:p>
          <a:p>
            <a:r>
              <a:t>② 다른 참여자가 있으면 방장 이전 성공을 먼저 확인한다. 방장인 채 나가기는 거부한다.</a:t>
            </a:r>
          </a:p>
          <a:p>
            <a:r>
              <a:t>③ 마지막1명일 때만 종료. 타인 유효 파일은 기한까지 본인 조회/삭제용 보존한다. 모임은 재개 불가다.</a:t>
            </a:r>
          </a:p>
          <a:p>
            <a:r>
              <a:t>④ 새 참여·역할 이전과 직렬화하여 종료 가능 여부를 재검증한다. 파일·계정 삭제 우선 규칙을 적용한다.</a:t>
            </a:r>
          </a:p>
          <a:p>
            <a:r>
              <a:t>상태: 일반 나가기 / 방장 후임 필요 / 마지막 방장 / 동시 참여로 종료 거부 / 정리 실패 추적</a:t>
            </a:r>
          </a:p>
          <a:p>
            <a:r>
              <a:t>API: groupLeave, groupClose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F02 F18 F24 F28</a:t>
            </a:r>
          </a:p>
          <a:p>
            <a:r>
              <a:t>권한: 로그인한 본인</a:t>
            </a:r>
          </a:p>
          <a:p>
            <a:r>
              <a:t>① 표시명 변경은 작성자 표시에도 반영하되 소유ID는 유지한다. 사진 프로필 설정은 없다.</a:t>
            </a:r>
          </a:p>
          <a:p>
            <a:r>
              <a:t>② 문서버전·선택시각·변경·철회를 조회한다. 선택 동의는 변경 가능, 필수 철회는 계정 삭제로 연결한다.</a:t>
            </a:r>
          </a:p>
          <a:p>
            <a:r>
              <a:t>④ 진행 업로드가 있으면 작업확인/중단 후 로그아웃/돌아가기. 실제 공개 문의 연락처는 배포 전에 설정한다.</a:t>
            </a:r>
          </a:p>
          <a:p>
            <a:r>
              <a:t>상태: 문의 식별값 / 세션 만료 / 업로드 중 로그아웃 / 다른 계정 캐시 분리 / 필수 재동의</a:t>
            </a:r>
          </a:p>
          <a:p>
            <a:r>
              <a:t>API: profilePatch, consentDocs, consentUpdate, logout, inquiryCreate, profileGet, consentsMine, notificationsList, notificationRead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</a:t>
            </a:r>
          </a:p>
          <a:p>
            <a:r>
              <a:t>권한: 재인증한 본인</a:t>
            </a:r>
          </a:p>
          <a:p>
            <a:r>
              <a:t>② 본인 재인증과 새 공급자 인증 둘 다 필요. 공급자 subject가 다른 앱 계정 소유이면 거부한다.</a:t>
            </a:r>
          </a:p>
          <a:p>
            <a:r>
              <a:t>③ 세션 소유자와 최근 재인증을 확인하고 명시적 연결만 수행한다. 기존 두 계정 데이터 병합은 없다.</a:t>
            </a:r>
          </a:p>
          <a:p>
            <a:r>
              <a:t>마지막 로그인 수단 해제는 거부한다. 공급자 토큰·비밀값을 화면과 로그에 노출하지 않는다.</a:t>
            </a:r>
          </a:p>
          <a:p>
            <a:r>
              <a:t>상태: 연결 성공 / 다른 계정 사용 중 / 마지막 수단 해제 거부 / 재인증 만료 / 사용자 취소</a:t>
            </a:r>
          </a:p>
          <a:p>
            <a:r>
              <a:t>API: identityLink, identityUnlink, identitiesList, reauthenticate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F24 F02</a:t>
            </a:r>
          </a:p>
          <a:p>
            <a:r>
              <a:t>권한: 재인증한 본인</a:t>
            </a:r>
          </a:p>
          <a:p>
            <a:r>
              <a:t>① 방장 역할 정리가 하나라도 남으면 서버에서 거부한다. 자동 후임 선임은 하지 않는다.</a:t>
            </a:r>
          </a:p>
          <a:p>
            <a:r>
              <a:t>② 조회 목록이 아닌 작성자ID로 전체 파일을 찾고 계정 접근·업로드·완료부터 차단한다.</a:t>
            </a:r>
          </a:p>
          <a:p>
            <a:r>
              <a:t>③ 삭제 직전 역할 수신/신규 모임을 다시 검증한다. 조회 차단과 물리정리 진행 상태를 분리한다.</a:t>
            </a:r>
          </a:p>
          <a:p>
            <a:r>
              <a:t>상태: 역할 정리 필요 / 재인증 / 동시 역할 수신 / 삭제 접수·정리 중 / 결과 불명</a:t>
            </a:r>
          </a:p>
          <a:p>
            <a:r>
              <a:t>API: accountDelete, deletionPreconditions, reauthenticate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F25 F26</a:t>
            </a:r>
          </a:p>
          <a:p>
            <a:r>
              <a:t>권한: 현재 참여자</a:t>
            </a:r>
          </a:p>
          <a:p>
            <a:r>
              <a:t>① 파일·대표 사진·참여자를 신고하며 사유2000자와 최소 증거를 연결한다.</a:t>
            </a:r>
          </a:p>
          <a:p>
            <a:r>
              <a:t>② 신고만으로 자동 삭제하지 않는다. 최초24시간, 이의3영업일 검토 기준을 적용한다.</a:t>
            </a:r>
          </a:p>
          <a:p>
            <a:r>
              <a:t>③ 개인 차단은 내 공동 목록·집계·저장/공유·직접경로에만 적용한다. 방장 역할·타인 화면·기한을 바꾸지 않는다.</a:t>
            </a:r>
          </a:p>
          <a:p>
            <a:r>
              <a:t>상태: 신고 중복 / 검토·조치·미조치 / 차단·해제 / 서비스 제한 중 문의·삭제 경로</a:t>
            </a:r>
          </a:p>
          <a:p>
            <a:r>
              <a:t>API: reportCreate, reportsMine, blockCreate, blockDelete, inquiryCreate, blocksList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F27</a:t>
            </a:r>
          </a:p>
          <a:p>
            <a:r>
              <a:t>권한: 현재 참여자</a:t>
            </a:r>
          </a:p>
          <a:p>
            <a:r>
              <a:t>④ 접수만으로 역할 변경하지 않는다. 요청자 재인증·참여이력·후임 의사·부재 근거를 확인한다.</a:t>
            </a:r>
          </a:p>
          <a:p>
            <a:r>
              <a:t>③ 앱 내 계정 알림과 동의한 보조 연락수단에 통지한다. 7일 경과만으로 자동 승인하지 않는다.</a:t>
            </a:r>
          </a:p>
          <a:p>
            <a:r>
              <a:t>운영자가 실행 직전 현재 방장·후임·모임상태·버전을 확인한다. 종료 모임 재개 불가, 분쟁/증거부족은 보류한다.</a:t>
            </a:r>
          </a:p>
          <a:p>
            <a:r>
              <a:t>상태: 자료 부족 / 통지·응답 대기 / 이의·보류 / 직접 이전으로 오래된 승인 무효 / 승인·거절</a:t>
            </a:r>
          </a:p>
          <a:p>
            <a:r>
              <a:t>API: recoveryCreate, recoveryGet, reauthenticate, recoveryConsent, recoveryResponse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F28</a:t>
            </a:r>
          </a:p>
          <a:p>
            <a:r>
              <a:t>권한: 로그인한 본인·모임 참여자</a:t>
            </a:r>
          </a:p>
          <a:p>
            <a:r>
              <a:t>① 완료 원본 바이트+예약으로 접수 검증. 5GB=5,000,000,000바이트, 파생본 사용량은 운영용 별도다.</a:t>
            </a:r>
          </a:p>
          <a:p>
            <a:r>
              <a:t>② LRU500MB. ③ 유일 업로드 원본·설명·보류 작업은 캐시 정리에서 제외한다.</a:t>
            </a:r>
          </a:p>
          <a:p>
            <a:r>
              <a:t>④ 캐시 삭제는 서버 기록 삭제가 아니다. 저장용 임시 파일은 기기 쓰기 완료 후 정리한다.</a:t>
            </a:r>
          </a:p>
          <a:p>
            <a:r>
              <a:t>상태: 공간 조회 실패 / 한도 도달 / 정리 중·실패 / 원본 정리 대기 / 로그아웃 계정별 분리</a:t>
            </a:r>
          </a:p>
          <a:p>
            <a:r>
              <a:t>API: storageUsage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F25 F26 F27</a:t>
            </a:r>
          </a:p>
          <a:p>
            <a:r>
              <a:t>권한: 별도 인증 운영자</a:t>
            </a:r>
          </a:p>
          <a:p>
            <a:r>
              <a:t>운영 전용 웹 화면의 모바일 폭 축약 와이어프레임이다. 실제 운영 화면은 목록+상세 2열로 구현한다.</a:t>
            </a:r>
          </a:p>
          <a:p>
            <a:r>
              <a:t>③ 일반 방장과 분리한 운영 권한·사유·처리자·시각 감사이력을 남긴다. 검사 장애는 비공개 수동 검토로 보낸다.</a:t>
            </a:r>
          </a:p>
          <a:p>
            <a:r>
              <a:t>⑤ 복구는 통지·7일 대기·후임 동의·수동 결정 후 버전을 재검증한다. 증거 암호화·종료 후90일 이내 정리.</a:t>
            </a:r>
          </a:p>
          <a:p>
            <a:r>
              <a:t>상태: 운영 로그인 실패 / 권한 부족 / 동시 조치 / SLA 초과 / 복구 이견·종료 / 감사 저장 실패</a:t>
            </a:r>
          </a:p>
          <a:p>
            <a:r>
              <a:t>API: opsQueue, opsAction, opsRecovery, opsCaseGet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기능: F01 F08 F15 F28</a:t>
            </a:r>
          </a:p>
          <a:p>
            <a:r>
              <a:t>권한: 작업 중 사용자</a:t>
            </a:r>
          </a:p>
          <a:p>
            <a:r>
              <a:t>① 응답 유실과 확정 실패를 구분한다. 업무 요청ID/멱등키로 기존 결과를 확인한다.</a:t>
            </a:r>
          </a:p>
          <a:p>
            <a:r>
              <a:t>③ 버전 충돌 시 자동 덮어쓰지 않고 내 입력·최신 값·재적용·취소를 제공한다.</a:t>
            </a:r>
          </a:p>
          <a:p>
            <a:r>
              <a:t>오프라인은 신규 조회/쓰기 제한과 재시도, 권한상실은 공동화면 종료 후 본인 기록 경로 유지. 내부 경로·토큰은 노출하지 않는다.</a:t>
            </a:r>
          </a:p>
          <a:p>
            <a:r>
              <a:t>상태: 로딩 / 실제 빈 결과 / 조회 실패 / 오프라인 / 충돌 / 결과 불명 / 권한 상실</a:t>
            </a:r>
          </a:p>
          <a:p>
            <a:r>
              <a:t>API: operationGet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At that place  1차 UI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편집 가능한 화면 원본 · 기능명세서 v2.1(2026-10-24) 기준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3600" b="1">
                <a:solidFill>
                  <a:srgbClr val="191F28"/>
                </a:solidFill>
                <a:latin typeface="Noto Sans CJK KR"/>
              </a:defRPr>
            </a:pPr>
            <a:r>
              <a:t>함께한 기록을</a:t>
            </a:r>
          </a:p>
          <a:p>
            <a:pPr>
              <a:spcAft>
                <a:spcPts val="100"/>
              </a:spcAft>
              <a:defRPr sz="3600" b="1">
                <a:solidFill>
                  <a:srgbClr val="191F28"/>
                </a:solidFill>
                <a:latin typeface="Noto Sans CJK KR"/>
              </a:defRPr>
            </a:pPr>
            <a:r>
              <a:t>일정 안에서 바로 만납니다.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795527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33개 대표 화면과 실제 APK 화면을 함께 검토합니다.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UI07(맞춤 반복)은 폐지, UI19는 UI16에 통합했습니다.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각 화면의 글자·버튼·배경·필드는 PowerPoint 도형입니다.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SVG의 텍스트·도형도 개별 편집할 수 있습니다.</a:t>
            </a:r>
          </a:p>
          <a:p>
            <a:pPr>
              <a:spcAft>
                <a:spcPts val="100"/>
              </a:spcAft>
              <a:defRPr sz="2100" b="0">
                <a:solidFill>
                  <a:srgbClr val="191F28"/>
                </a:solidFill>
                <a:latin typeface="Noto Sans CJK KR"/>
              </a:defRPr>
            </a:pPr>
            <a:r>
              <a:t>APK 캡처는 관찰 근거 이미지이며 편집용 UI 원본과 구분합니다.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623560"/>
            <a:ext cx="8046720" cy="109728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80644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1">
                <a:solidFill>
                  <a:srgbClr val="B8433F"/>
                </a:solidFill>
                <a:latin typeface="Noto Sans CJK KR"/>
              </a:defRPr>
            </a:pPr>
            <a:r>
              <a:t>Android 12+ · 한국 시간 고정 · 반복 일정·외부 공유 없음</a:t>
            </a:r>
          </a:p>
          <a:p>
            <a:pPr>
              <a:spcAft>
                <a:spcPts val="100"/>
              </a:spcAft>
              <a:defRPr sz="1900" b="1">
                <a:solidFill>
                  <a:srgbClr val="B8433F"/>
                </a:solidFill>
                <a:latin typeface="Noto Sans CJK KR"/>
              </a:defRPr>
            </a:pPr>
            <a:r>
              <a:t>영상 편집·제작·결제는 후속 범위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1024128"/>
            <a:ext cx="2834640" cy="6134451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95206" y="1111347"/>
            <a:ext cx="1453661" cy="1817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86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5206" y="1373006"/>
            <a:ext cx="2543907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16" b="1">
                <a:solidFill>
                  <a:srgbClr val="191F28"/>
                </a:solidFill>
                <a:latin typeface="Noto Sans CJK KR"/>
              </a:defRPr>
            </a:pPr>
            <a:r>
              <a:t>‹  일정 전체 계획과 기록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95206" y="1838178"/>
            <a:ext cx="2543907" cy="5233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73" b="1">
                <a:solidFill>
                  <a:srgbClr val="191F28"/>
                </a:solidFill>
                <a:latin typeface="Noto Sans CJK KR"/>
              </a:defRPr>
            </a:pPr>
            <a:r>
              <a:t>우리의 서울 여행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95206" y="2434179"/>
            <a:ext cx="2543907" cy="3343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01" b="0">
                <a:solidFill>
                  <a:srgbClr val="5F6B78"/>
                </a:solidFill>
                <a:latin typeface="Noto Sans CJK KR"/>
              </a:defRPr>
            </a:pPr>
            <a:r>
              <a:t>10.17–10.19 · 한국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95206" y="2841204"/>
            <a:ext cx="2543907" cy="465171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96962" y="2992385"/>
            <a:ext cx="2340395" cy="4215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B8433F"/>
                </a:solidFill>
                <a:latin typeface="Noto Sans CJK KR"/>
              </a:defRPr>
            </a:pPr>
            <a:r>
              <a:t>① 보관 마지막 날 2027.01.19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95206" y="3379059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96962" y="3419762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② 전체  |  10.17  |  10.18</a:t>
            </a:r>
          </a:p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|  10.19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5206" y="3858768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96962" y="3980875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③ 장소 계획  |  공동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95206" y="4338476"/>
            <a:ext cx="2543907" cy="596001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96962" y="4374817"/>
            <a:ext cx="2340395" cy="552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10.17 서울에서 만나는 날 · 장소</a:t>
            </a:r>
          </a:p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3/15</a:t>
            </a:r>
          </a:p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10:00 성수 카페 · 사진 6 / 영상</a:t>
            </a:r>
          </a:p>
          <a:p>
            <a:pPr>
              <a:spcAft>
                <a:spcPts val="100"/>
              </a:spcAft>
              <a:defRPr sz="801" b="0">
                <a:solidFill>
                  <a:srgbClr val="191F28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95206" y="5007160"/>
            <a:ext cx="2543907" cy="596001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96962" y="5223756"/>
            <a:ext cx="2340395" cy="5523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15" b="0">
                <a:solidFill>
                  <a:srgbClr val="191F28"/>
                </a:solidFill>
                <a:latin typeface="Noto Sans CJK KR"/>
              </a:defRPr>
            </a:pPr>
            <a:r>
              <a:t>④ 장소 미지정 기록  ·  사진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95206" y="5675844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96962" y="5797952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15" b="1">
                <a:solidFill>
                  <a:srgbClr val="B8433F"/>
                </a:solidFill>
                <a:latin typeface="Noto Sans CJK KR"/>
              </a:defRPr>
            </a:pPr>
            <a:r>
              <a:t>⑤ 장소 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95206" y="6155553"/>
            <a:ext cx="2543907" cy="407025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96962" y="6277660"/>
            <a:ext cx="2340395" cy="363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15" b="1">
                <a:solidFill>
                  <a:srgbClr val="FFFFFF"/>
                </a:solidFill>
                <a:latin typeface="Noto Sans CJK KR"/>
              </a:defRPr>
            </a:pPr>
            <a:r>
              <a:t>⑥ 사진·영상 올리기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189208" y="7027750"/>
            <a:ext cx="755904" cy="29073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정보 구조와 핵심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날짜는 일정 내부의 정리·필터 속성  ·  2026-10-24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UI03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내 모임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8152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79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39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UI05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모임 달력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044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UI08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일정 전체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19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UI09 / UI13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공동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48288" y="1645920"/>
            <a:ext cx="292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0">
                <a:solidFill>
                  <a:srgbClr val="5F6B78"/>
                </a:solidFill>
                <a:latin typeface="Noto Sans CJK KR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750040" y="1371600"/>
            <a:ext cx="2423160" cy="1005840"/>
          </a:xfrm>
          <a:prstGeom prst="roundRect">
            <a:avLst>
              <a:gd name="adj" fmla="val 2500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0" y="1499616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UI18</a:t>
            </a:r>
          </a:p>
          <a:p>
            <a:pPr>
              <a:spcAft>
                <a:spcPts val="100"/>
              </a:spcAft>
              <a:defRPr sz="2000" b="1">
                <a:solidFill>
                  <a:srgbClr val="B8433F"/>
                </a:solidFill>
                <a:latin typeface="Noto Sans CJK KR"/>
              </a:defRPr>
            </a:pPr>
            <a:r>
              <a:t>감상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926080"/>
            <a:ext cx="12801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등록  UI14 방식 선택 → UI15 촬영 / 기기 선택기 → UI16 파일 선택·정보 → UI17 전송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선택  UI09/UI13 길게 누르기 → UI16 선택 모드 → UI21 저장 · UI20 본인 수정 · 삭제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관리  UI06 일정 수동 추가 · UI23 초대(50회) · UI26 참여자 · UI27 나가기/종료 · UI30 계정 삭제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28016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화면 공통 규칙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로딩·빈 결과·오류를 구분하고, 실패해도 입력을 유지합니다.</a:t>
            </a:r>
          </a:p>
          <a:p>
            <a:pPr>
              <a:spcAft>
                <a:spcPts val="100"/>
              </a:spcAft>
              <a:defRPr sz="2300" b="0">
                <a:solidFill>
                  <a:srgbClr val="191F28"/>
                </a:solidFill>
                <a:latin typeface="Noto Sans CJK KR"/>
              </a:defRPr>
            </a:pPr>
            <a:r>
              <a:t>서버가 권한·기한·버전을 재검증하며 전송100%를 완료로 표시하지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디자인 토큰과 편집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선행 XLSX의 브랜드 색과 간격을 Android 기준으로 정리  ·  2026-10-24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기본 본문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#191F28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4E59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보조 본문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#4E5968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F17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브랜드 포인트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#F1706B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주 버튼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#B8433F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0" y="1280160"/>
            <a:ext cx="2286000" cy="1005840"/>
          </a:xfrm>
          <a:prstGeom prst="roundRect">
            <a:avLst>
              <a:gd name="adj" fmla="val 18181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0" y="24231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안내 배경</a:t>
            </a:r>
          </a:p>
          <a:p>
            <a:pPr>
              <a:spcAft>
                <a:spcPts val="100"/>
              </a:spcAft>
              <a:defRPr sz="1800" b="0">
                <a:solidFill>
                  <a:srgbClr val="191F28"/>
                </a:solidFill>
                <a:latin typeface="Noto Sans CJK KR"/>
              </a:defRPr>
            </a:pPr>
            <a:r>
              <a:t>#FDEDEB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12801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본문17sp · 보조14sp · 제목24~28sp · 간격4dp 단위 · 좌우20dp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버튼/필드 최소56dp · 폰트 확대200%는 스크롤/재배치로 검수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밝은 코랄은 장식에 사용하고 주 버튼은 대비를 높인 진한 코랄로 제안합니다.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PowerPoint: 도형/텍스트를 직접 선택해 수정 · SVG: 벡터 도구에서 열어 수정</a:t>
            </a:r>
          </a:p>
          <a:p>
            <a:pPr>
              <a:spcAft>
                <a:spcPts val="100"/>
              </a:spcAft>
              <a:defRPr sz="2200" b="0">
                <a:solidFill>
                  <a:srgbClr val="191F28"/>
                </a:solidFill>
                <a:latin typeface="Noto Sans CJK KR"/>
              </a:defRPr>
            </a:pPr>
            <a:r>
              <a:t>재생성: 도구/design_model.py 수정 후 build_design.py 실행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UI01  시작과 로그인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시작과 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57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32" b="1">
                <a:solidFill>
                  <a:srgbClr val="B8433F"/>
                </a:solidFill>
                <a:latin typeface="Noto Sans CJK KR"/>
              </a:defRPr>
            </a:pPr>
            <a:r>
              <a:t>At that 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83527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함께한 순간을</a:t>
            </a:r>
          </a:p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한곳에 모아요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941" y="3369915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모임의 일정별로 사진과 영상을 함께 보관해요.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77037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E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890514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191F28"/>
                </a:solidFill>
                <a:latin typeface="Noto Sans CJK KR"/>
              </a:defRPr>
            </a:pPr>
            <a:r>
              <a:t>① 카카오로 시작하기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24234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36248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② Google로 시작하기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941" y="4714318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이용약관  ·  개인정보처리방침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 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카카오톡 이용 불가 시 카카오계정 웹 인증으로 전환한다.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공급자 식별값으로 로그인하며 이메일로 계정을 합치지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초대 진입 경로와 미완료 작업을 보존한다. 신규 가입이면 UI02,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기존이면 UI03 또는 UI24로 이동한다.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세션 복원 중에는 스플래시 유지 / 인증 취소는 이전 상태 / 오프라인·인증 실패·서비스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장애를 구분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authExchange, sessionRefresh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UI02  가입 동의와 표시명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F02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가입 동의와 표시명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처음 오셨네요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문서를 읽고 필요한 항목에 동의해 주세요.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6121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[ ] 이용약관 동의   필수  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1305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73319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[ ] 개인정보 안내   필수 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08502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20516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[ ] 선택 항목 동의  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556994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70573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표시명  |  지민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941" y="5086174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중복 표시명도 사용할 수 있어요. 최대 20자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48663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60677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동의하고 시작하기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최초 가입자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항목별 문서와 버전을 열람한다. 실제 동의 항목·문구는 운영 문서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확정 후 적용한다.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NFC 정규화와 앞뒤 공백 제거 후 사용자 인식 문자 1~20자.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소셜 이름은 제안값이다.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필수 미동의 시 제출 비활성, 선택 거부로 가입을 막지 않는다. 사진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프로필 입력은 제공하지 않는다.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필수 미선택 / 표시명 공백·21자 / 문서 로딩 실패 / 검사 중·거부 / 초대 복귀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onboard, consentDocs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UI03  내 모임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F03 / F21 / F28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내 모임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함께하는 모임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① 최근 공동 활동순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74091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주말 산책 모임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6/10명 · 진행 중: 우리의 서울 여행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867630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보관 안내  ·  만료 7일 전 기록이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있어요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32816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46117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대학 동기 모임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4/10명 · 다음 일정: 성수 당일치기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98605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510619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모임 만들기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45803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57816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초대 코드로 참여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941" y="5930001"/>
            <a:ext cx="2502876" cy="357553"/>
          </a:xfrm>
          <a:prstGeom prst="roundRect">
            <a:avLst>
              <a:gd name="adj" fmla="val 2400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056" y="6028686"/>
            <a:ext cx="2302646" cy="314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모임  |  내 기록  |  설정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5" name="Picture 24" descr="01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사용자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열람은 활동 시각을 갱신하지 않는다. 동률은 생성시각·ID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역순이다.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카드 → UI05 모임 달력. 일정 요약은 진행 중→가까운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미래→최근 과거이며 취소는 제외한다.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첫 일정을 포함해 UI04에서 생성. ④ UI24 코드 입력.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종료한 모임은 공동 상세로 열지 않는다.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로딩 / 모임 없음과 조회 실패 구분 / 30개 커서 / 활성 100개·방장 생성 20개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groupsList, groupCreate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UI04  모임과 첫 일정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F03 / F07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모임과 첫 일정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모임 이름  |  주말 산책 모임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83215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첫 일정 제목  |  우리의 서울 여행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21259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36133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시작 날짜  2026.10.17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741771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89051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종료 날짜  2026.10.19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27095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시간은 장소를 추가할 때 입력해요.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반복 설정은 없어요. 필요하면 일정을 더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추가해요.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467141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한국 시간 · 최대 10명 · 정원 변경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07187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19201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모임과 첫 일정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사용자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모임 이름 1~50자, ② 일정 제목 1~100자. 공개 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텍스트 검사를 수행한다.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날짜만 입력한다(종일/시간 지정 없음). 종료 날짜 포함 366일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이내, 과거 날짜 허용. ④ 예정 시각은 UI10/UI11에서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방문별로 입력하고 UI08에 표시한다.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⑤ 모임·방장 참여·첫 일정은 하나의 트랜잭션으로 생성한다.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재시도에는 같은 요청 키를 사용한다.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필수 누락 / 날짜 역전·367일 / 검사 대기 / 결과 확인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groupCreate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UI05  모임 달력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F06 / F07 / F08 / F11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 달력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043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주말 산책 모임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28618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764566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&lt;   2026년 10월   &gt; 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오늘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190929"/>
            <a:ext cx="2502876" cy="1653111"/>
          </a:xfrm>
          <a:prstGeom prst="roundRect">
            <a:avLst>
              <a:gd name="adj" fmla="val 6921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3150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401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653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2905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6156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9408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2660" y="3248138"/>
            <a:ext cx="328949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675" b="0">
                <a:solidFill>
                  <a:srgbClr val="4E5968"/>
                </a:solidFill>
                <a:latin typeface="Noto Sans CJK KR"/>
              </a:defRPr>
            </a:pPr>
            <a:r>
              <a:t>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2905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76156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9408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2660" y="3434066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50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6401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653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2905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6156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9408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62660" y="3662900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3150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401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653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2905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6156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16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19408" y="3891735"/>
            <a:ext cx="314647" cy="207381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9408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B8433F"/>
                </a:solidFill>
                <a:latin typeface="Noto Sans CJK KR"/>
              </a:defRPr>
            </a:pPr>
            <a: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62660" y="3891735"/>
            <a:ext cx="314647" cy="207381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62660" y="3891735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B8433F"/>
                </a:solidFill>
                <a:latin typeface="Noto Sans CJK KR"/>
              </a:defRPr>
            </a:pPr>
            <a:r>
              <a:t>18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3150" y="4120569"/>
            <a:ext cx="314647" cy="207381"/>
          </a:xfrm>
          <a:prstGeom prst="roundRect">
            <a:avLst>
              <a:gd name="adj" fmla="val 20689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3150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B8433F"/>
                </a:solidFill>
                <a:latin typeface="Noto Sans CJK KR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6401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89653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2905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76156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19408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62660" y="4120569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3150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6401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89653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2905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6156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19408" y="4349404"/>
            <a:ext cx="314647" cy="185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732" b="0">
                <a:solidFill>
                  <a:srgbClr val="191F28"/>
                </a:solidFill>
                <a:latin typeface="Noto Sans CJK KR"/>
              </a:defRPr>
            </a:pPr>
            <a:r>
              <a:t>31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754" y="4629508"/>
            <a:ext cx="2331251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B8433F"/>
                </a:solidFill>
                <a:latin typeface="Noto Sans CJK KR"/>
              </a:defRPr>
            </a:pPr>
            <a:r>
              <a:t>17  우리의 서울 여행  ·  +2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5941" y="4914088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6056" y="5030128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10월 17일 일정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5941" y="5376399"/>
            <a:ext cx="2502876" cy="574386"/>
          </a:xfrm>
          <a:prstGeom prst="roundRect">
            <a:avLst>
              <a:gd name="adj" fmla="val 1493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6056" y="5503408"/>
            <a:ext cx="2302646" cy="5314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우리의 서울 여행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10.17–10.19 · 장소 3곳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5941" y="6020832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6056" y="6136872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달력 / 일정 목록  ·  초대·관리 &gt;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5941" y="6483143"/>
            <a:ext cx="2502876" cy="392263"/>
          </a:xfrm>
          <a:prstGeom prst="roundRect">
            <a:avLst>
              <a:gd name="adj" fmla="val 21876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6056" y="6599183"/>
            <a:ext cx="2302646" cy="34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일정 추가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월~일 시작. 날짜 셀 최대 3개와 +N을 표시하고 날짜 탭으로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전체 일정을 연다.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일정 탭 → UI08로 바로 이동. 날짜를 별도 공간으로 생성하지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않는다. 취소 일정은 표시를 유지한다.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초대·관리에서 모든 현재 참여자가 UI23에 진입한다. 보기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방식은 기기에 보관한다. ④ 현재 방장만 UI06에서 일정을 수동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추가한다. 반복 생성은 없다. 뒤로 오면 월·선택·스크롤을 복원한다.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달력 로딩 / 일정 없음 / 월 조회 실패 / 같은 날 4개 이상 / 여러 날 일정의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모든 셀 표시 / 날짜 요청 범위 366일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calendar, scheduleDelete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UI06  일정 추가와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F07 / F08 / F11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일정 추가와 변경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제목  |  우리의 서울 여행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52062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시작 2026.10.17  /  종료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2026.10.19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941" y="321259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시간은 각 장소에서 입력해요 · 반복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61305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681702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최초 기록 완료 후 보관 기한은 바뀌지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않아요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14223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22518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③ 기간을 줄이면 기간 밖이 되는 기록 2개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· 방문 1개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삭제되지 않고 기간 밖 구역에 남아요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80013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92026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941" y="5272102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④ 일정 취소(기록 보존)  ·  빈 일정 삭제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제목 100자. ② 날짜만 입력하며 시작 ≤ 종료, 포함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366일. 겹치는 일정은 안내 후 허용한다.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변경 저장 전에 기간 밖이 될 방문·기록 수를 서버가 계산해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확인받는다. 기록은 삭제되지 않고 기간 밖 구역에 유지된다.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기록·업로드가 있으면 삭제 불가이며 취소로 전환한다. 취소 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신규 촬영·접수는 금지한다. 빈 일정만 완전 삭제한다.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기간 밖 기록 확인 / 버전 충돌과 입력 보존 / 기록 있는 삭제 거부 / 취소 재활성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거부 / 미저장 이탈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scheduleCreate, scheduleUpdate, scheduleCancel, scheduleDelete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UI08  일정 전체 계획과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F06 / F09 / F16 / F21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일정 전체 계획과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우리의 서울 여행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10.17–10.19 · 한국 시간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89823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① 보관 마지막 날 2027.01.19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7026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71030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전체  |  10.17  |  10.18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|  10.19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142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262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장소 계획  |  공동 기록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614203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649958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10.17 서울에서 만나는 날 · 장소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3/15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10:00 성수 카페 · 사진 6 / 영상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27210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48520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장소 미지정 기록  ·  사진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941" y="593000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056" y="605013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⑤ 장소 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941" y="640197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056" y="652211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⑥ 사진·영상 올리기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7" name="Picture 26" descr="0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완료 전 예상, 첫 완료 후 고정 기한으로 표시한다. 기한 예시는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2026.10.19 종료에 대응한다.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전체가 기본이며 날짜는 필터다. ③ 장소 계획은 방문일별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순서·예정 시각(미입력은 시간 미정)·장소별 개수를 표시한다.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일정에는 시각이 없다.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6118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미지정도 업로드 가능. ⑤ UI10, 날짜별 15개 도달 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비활성과 사유 표시. ⑥ UI14. 취소·만료 시 새 업로드를 막고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이유를 표시한다.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빈 일정 / 전체·날짜 필터 / 기간 밖 기록 구역 / 장소 15개 도달 / 취소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만료 / 권한 상실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scheduleDetail, mediaList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UI09  공동 기록과 보기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F16 / F17 / F19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공동 기록과 보기 방식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74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전체 날짜  &gt;  ·  전체 장소  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66624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시간순 ✓  ·  사람별 묶음  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오래된순 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098174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4660" y="3226894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416" y="3262649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207" y="3544401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③ 지민 · 사진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촬영 10.17 11:08 · 성수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로스터리 카페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09932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21946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함께 마신 커피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571296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4660" y="4700016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416" y="4735771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207" y="5017523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수현 · 영상 00:03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업로드 10.17 12:40 · 장소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미지정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941" y="5572447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길게 누르면 여러 장을 골라 저장할 수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있어요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941" y="597290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056" y="609304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사진·영상 올리기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8" name="Picture 27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날짜·방문·장소 미지정 필터. 목록 60개 커서. 카드 하나는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 하나다. 기간 밖 기록도 전체 목록에 표시한다.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시간순은 촬영 시각 기준(없으면 업로드 완료 시각, 카드에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표시), 오름차순 기본. 사람별 묶음은 작성자 구역으로 묶고 구역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안은 시간순이다. 보기 방식은 기기에 기억한다.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6118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카드 → UI18. ④ 길게 누르기 또는 선택 버튼 → UI16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선택 모드(저장·본인 수정·본인 삭제). 차단한 작성자는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목록·구역에서 제외한다.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로딩·빈 필터 / 페이지 오류 / 촬영 시각 없음 / 차단·운영제한 집계 반영 / 후속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파일 부분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mediaList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UI10  장소 검색과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F09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장소 검색과 지도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17763"/>
          </a:xfrm>
          <a:prstGeom prst="roundRect">
            <a:avLst>
              <a:gd name="adj" fmla="val 20541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83022"/>
            <a:ext cx="2302646" cy="374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장소명 또는 주소  |  성수 카페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37271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39950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전체 · 관광지 · 맛집 · 카페✓ · 숙소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068089"/>
            <a:ext cx="2502876" cy="1240234"/>
          </a:xfrm>
          <a:prstGeom prst="roundRect">
            <a:avLst>
              <a:gd name="adj" fmla="val 8072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171" y="3153902"/>
            <a:ext cx="28604" cy="1068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97034" y="3153902"/>
            <a:ext cx="28604" cy="1068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47897" y="3153902"/>
            <a:ext cx="28604" cy="1068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3207" y="3750218"/>
            <a:ext cx="2288344" cy="429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25869" y="3530883"/>
            <a:ext cx="171625" cy="200230"/>
          </a:xfrm>
          <a:prstGeom prst="roundRect">
            <a:avLst>
              <a:gd name="adj" fmla="val 25000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207" y="3663402"/>
            <a:ext cx="2288344" cy="5629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② 이 영역에서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4373599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4476278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관련도순  /  거리순  ·  현재 위치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4804417"/>
            <a:ext cx="2502876" cy="535259"/>
          </a:xfrm>
          <a:prstGeom prst="roundRect">
            <a:avLst>
              <a:gd name="adj" fmla="val 16032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4911863"/>
            <a:ext cx="2302646" cy="492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성수 로스터리 카페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서울 성동구 … · 지도 중심에서 350m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941" y="5404952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056" y="5440707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방문일 2026.10.17  ·  예정 시각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10:00 (미정 가능)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941" y="5835770"/>
            <a:ext cx="2502876" cy="3002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이 날짜 장소 3/15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5941" y="6201313"/>
            <a:ext cx="2502876" cy="365542"/>
          </a:xfrm>
          <a:prstGeom prst="roundRect">
            <a:avLst>
              <a:gd name="adj" fmla="val 23475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056" y="6303992"/>
            <a:ext cx="2302646" cy="3226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이 장소 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941" y="6632131"/>
            <a:ext cx="2502876" cy="24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검색에 없나요? 직접 등록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32" name="Picture 31" descr="07-place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국내 카카오맵 데이터 사용. 늦은 이전 응답은 버린다. 검색어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100자.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지도 이동 후 명시적 재검색. 기본은 일정 첫 좌표 방문→기기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마지막 영역→서울시청이다.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현재 위치 버튼 때만 권한 요청. ⑤ 예정 시각은 5분 단위 또는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미정. 같은 일정·방문일·동일 공급자 장소 중복 금지, 날짜별 15개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초과 거부. 저장 뒤 UI08로 돌아간다.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검색 전 / 결과 없음 / 공급자 오류 / 위치 거절·실패 / 중복 방문 / 장소 15개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도달 / 저장 충돌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placesSearch, visitCreate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UI11  장소 직접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F09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장소 직접 등록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장소 이름  |  우리만의 피크닉 자리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83215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주소 (선택)  |  입력하지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212592"/>
            <a:ext cx="2502876" cy="1358704"/>
          </a:xfrm>
          <a:prstGeom prst="roundRect">
            <a:avLst>
              <a:gd name="adj" fmla="val 736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171" y="3298404"/>
            <a:ext cx="28604" cy="11870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97034" y="3298404"/>
            <a:ext cx="28604" cy="11870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47897" y="3298404"/>
            <a:ext cx="28604" cy="118707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3207" y="3959879"/>
            <a:ext cx="2288344" cy="4290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825869" y="3734620"/>
            <a:ext cx="171625" cy="200230"/>
          </a:xfrm>
          <a:prstGeom prst="roundRect">
            <a:avLst>
              <a:gd name="adj" fmla="val 25000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3207" y="3864770"/>
            <a:ext cx="2288344" cy="6221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② 지도에서 핀 지정 (선택)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464280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468285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방문일  |  2026.10.17  ·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예정 시각  |  미정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941" y="5114778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등록한 장소는 이 모임 안에서만 사용해요. 이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날짜 장소 3/15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941" y="551523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056" y="563537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장소 등록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이름 1~100자, 주소 200자. 좌표 없는 등록을 허용하며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지도 마커·거리를 만들지 않는다.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좌표 비교는 소수점 6자리. 이름·주소 앞뒤·연속 공백 정리 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세 값이 같으면 중복이다.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방문일 마지막 순서에 추가한다. 예정 시각은 선택 입력(미정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허용)이며 날짜별 15개를 넘으면 거부한다. 공급자 원장에 게시하지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이름 없음 / 좌표 없음 / 동일 수기 정보 중복 / 장소 15개 도달 / 검사 거부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재전송 중복 방지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visitCreate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UI12  방문 계획 편집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F10 / F11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방문 계획 편집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날짜 제목  |  서울에서 만나는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941" y="268341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10월 17일 · ② 끌어서 순서 변경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08387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21688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≡  성수 로스터리 카페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예정 시각 10:00 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74177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874781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≡  서울숲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예정 시각 미입력  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39967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53268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≡  한강공원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예정 시각 15:00  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505756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517770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빈 방문 삭제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52954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64967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계획 저장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4" name="Picture 23" descr="09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날짜 제목 30자, 비우면 날짜 표시. 날짜 전체 메모는 없다.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드래그 외에 위/아래 이동 버튼도 제공한다. 시각 변경으로 자동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재정렬하지 않는다.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374136"/>
            <a:ext cx="740664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5분 단위/미입력 허용, 시각순 정렬 버튼은 눌렀을 때만 재정렬.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편집으로 방문을 추가하지 않으므로 15개 한도는 UI10/11에서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검사. ④ 숨긴 파일·업로드도 서버에서 검사한다. ⑤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순서·시각·제목과 버전을 함께 저장한다.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순서 중복·누락 / 타 날짜 혼입 / 버전 충돌 / 미저장 이탈: 저장·버리기·계속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planUpdate, visitDelete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UI13  방문별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F09 / F14 / F16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방문별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성수 로스터리 카페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10.17 · 예정 10:00 · 서울 성동구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18112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사진 6  ·  영상 2   /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시간순  ·  사람별 묶음 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1305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82615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지민  ·  사진 3 · 영상 1   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4660" y="4399670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416" y="4435426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3207" y="4717178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지민 · 사진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촬영 10.17 11:08 · 커피와 함께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시작한 하루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27210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48520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수현  ·  사진 3 · 영상 1   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941" y="593000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② 내가 올릴 수 있는 수  사진 2/5 ·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영상 1/2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633046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645059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이 장소에 기록 올리기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6" name="Picture 25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현재 사용자가 볼 수 있는 완료 파일만 집계한다. 차단·운영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제한·삭제·만료를 제외한다. 사람별 묶음은 작성자 구역(먼저 완료한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작성자부터)·접기/펼치기, 시간순은 촬영 시각 기준이다.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816352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작성자별 이 방문의 한도(사진 5·영상 2)에서 완료+진행 중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작업을 뺀 남은 수. 0이면 올리기 버튼에 사유를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올리기 → UI14. UI16에서 방문일을 제안하고 사용자가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확인한다. 다른 날짜로 바꾸면 방문을 해제·재선택한다.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기록 없음 / 파일 검사 중 / 장소 좌표 없음 / 남은 개수 0 / 방문 삭제 충돌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mediaList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UI14  기록 추가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F12 / F13 / F14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기록 추가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어떤 순간을 남길까요?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우리의 서울 여행 · 10.17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74091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기기 사진·영상 가져오기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시스템 선택기로 필요한 파일만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93199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사진 찍기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촬영 후 확인하고 사용해요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456879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589889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짧은 영상 찍기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기본 3초 · 최대 5초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5114778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촬영·가져오기 합계 최대 120개 · 장소마다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사진 5·영상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551523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563537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닫기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2" name="Picture 21" descr="06-media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Photo Picker 우선, 불가 시 문서 선택기. 전체 앨범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권한을 강제하지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②·③ 카메라 권한을 필요한 시점에 요청한다. 취소 일정이면 진입 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신규 작업을 막는다.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촬영·기기 파일 혼합 후보를 같은 제출에 넣고 최초 선택 순서를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유지한다.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선택 취소 / 121번째 후보 / 권한 거절 / 파일 접근 소실 / 클라우드 다운로드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실패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uploadPrepare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UI15  사진과 짧은 영상 촬영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F12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사진과 짧은 영상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2216833"/>
          </a:xfrm>
          <a:prstGeom prst="roundRect">
            <a:avLst>
              <a:gd name="adj" fmla="val 4516"/>
            </a:avLst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3207" y="3218312"/>
            <a:ext cx="2288344" cy="1051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① 카메라 미리보기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444257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456271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사진  /  영상✓     전후면 전환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491454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503468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1초  2초  3초✓  4초  5초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941" y="5386519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③ 마이크 꺼짐 · 무음 영상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578697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590711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녹화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625895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637908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후면 기본. 영상 최대1080p/30fps, 미지원720p. 촬영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전만 전후면 전환 가능하다.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기본3초, 기기 마지막 정수1~5초 기억. 자동 종료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±0.25초, 조기 종료는 0.5초 이상.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마이크 거절이어도 무음 촬영 허용. ④ 녹화 중 정지 버튼. 결과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확인·재촬영·사용, 앱 전환/전화 뒤 유효성 확인.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카메라 거절 / 녹화 중 / 결과 확인 / 0.5초 미만 / 저장공간 부족 / 권한 회수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uploadPrepare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UI16  파일 선택과 업로드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F13 / F14 / F17 / F18 / F19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파일 선택과 업로드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3개 선택됨 / 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78066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불러온 항목 모두 선택  ·  해제  ·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+ 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4660" y="3341311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416" y="3377066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207" y="365881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✓ 1번 사진      ✓ 2번 영상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00:03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✓ 3번 사진      □ 4번 사진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21374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36248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기록일  |  2026.10.17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74292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78296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방문  |  성수 로스터리 카페 &gt; 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사진 2/5 · 영상 1/2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214893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36363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⑤ 설명  |  함께 마신 커피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941" y="5744073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위치 태그를 제거하고 검사 후 공개해요.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941" y="614453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056" y="618457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⑥ 3개 업로드   /   저장 · 수정</a:t>
            </a:r>
          </a:p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· 삭제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7" name="Picture 26" descr="05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 또는 본인 기록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83080"/>
            <a:ext cx="740664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업로드 전 후보 선택과 기존 기록의 다중 선택이 같은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화면이다(이전 UI19 통합). 길게 누르기 또는 선택 버튼으로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진입하며 최대120개, 불러오지 않은 파일은 자동 선택하지 않는다.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묶음 전체 선택을 지원한다.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063239"/>
            <a:ext cx="7406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③~⑤ 업로드 맥락: 파일별 기록일(일정 범위 안, 단일일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자동·다일은 오늘/시작일 제안)·방문(방문일=기록일, 미지정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허용)·설명 1000자. 선택한 파일에 기록일·방문을 일괄 지정할 수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있다. 방문별 남은 개수를 보여 주고 초과 파일은 제출 전에 표시하며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서버가 파일별로 거부한다.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590288"/>
            <a:ext cx="7406640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⑥ 기존 기록 맥락: 저장은 조회 가능한 타인 파일도 가능, 수정은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같은 일정 본인 파일만(UI20), 삭제는 본인만. 타인 혼합이면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수정/삭제 비활성 이유를 표시하고 서버도 거부한다. 본인 보존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경로(UI22)는 삭제만 제공한다.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사진50MB·100MP / 영상200MB·60초 / 0개·121개 / 방문일 불일치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사진5·영상2 초과 / 타인 혼합 / 선택 중 파일 삭제·만료 / 기한 경과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uploadPrepare, metadataPatch, mediaDelete, exportCreate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UI17  파일 전송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F15 / F20 / F26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파일 전송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순간을 모으는 중이에요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95372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1번 사진  ·  완료 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53153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2번 영상  ·  서버 확인 중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전송 100% · 위치 제거·검사 진행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056419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189429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3번 사진  ·  실패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네트워크 연결 확인  /  재시도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714318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847328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4번 영상  ·  검토 대기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아직 공개되지 않았어요  /  문의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5372217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549235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실패 파일만 다시 시도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941" y="5844188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미완료 작업 취소  ·  닫기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업로드 작성자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완료 파일만 공동 목록 반영. ② 전송100%는 완료가 아니다.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검토 대기는 비공개다.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파일별1·2·4초 최대3회 자동 재시도. 오프라인 대기는 횟수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미소모, 동시3개.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취소 이전 서버 접수한 같은 파일은 일정 취소 후에도 재시도 가능.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권한 소멸·종료·만료·사용자 취소가 우선한다.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준비·대기 / 전송 / 서버 확인 / 검토 / 완료 / 실패 / 취소 / 결과 확인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uploadGet, uploadRetry, uploadCancel, uploadCommit, uploadHead, uploadChunk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UI18  사진 감상과 영상 재생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F16 / F17 / F18 / F19 / F25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사진 감상과 영상 재생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4660" y="228295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0416" y="231870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207" y="260045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① 사진 확대 / 영상 재생·탐색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15538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7552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지민  ·  촬영 10.17 11:08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62735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74749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기록일 10.17 · 성수 로스터리 카페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099325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함께 마신 커피 · 업로드 10.17 12:40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499785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648528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보관 마지막 날 2027.01.19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02896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14910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휴대폰에 저장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5500936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5621074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정보 수정  ·  삭제  ·  신고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960120"/>
            <a:ext cx="29260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5F6B78"/>
                </a:solidFill>
                <a:latin typeface="Noto Sans CJK KR"/>
              </a:defRPr>
            </a:pPr>
            <a:r>
              <a:t>이번 실행 APK · 관찰 근거</a:t>
            </a:r>
          </a:p>
        </p:txBody>
      </p:sp>
      <p:pic>
        <p:nvPicPr>
          <p:cNvPr id="26" name="Picture 25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53312"/>
            <a:ext cx="2715768" cy="6035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 또는 본인 보존 경로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닫으면 영상·소리를 중단하고 목록 위치를 복원한다. ② 촬영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시각이 없으면 업로드 시각만 표시한다.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현재 참여 중이며 조회 가능한 파일만 저장. 다른 앱 공유 버튼은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없다. 나간 뒤 본인 경로는 열람·삭제만 허용한다.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수정은 현재 참여 중 본인 파일만, 삭제는 본인만. 방장도 타인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 수정·삭제 불가. 타인 신고·차단은 UI31로 연결한다.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재생 통신·형식 오류 / 만료 / 삭제 / 퇴장 / 운영 제한 / 보존 경로에서는 저장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숨김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mediaStream, metadataPatch, mediaDelete, reportCreate, exportCreate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UI20  본인 기록 일괄 수정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F17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본인 기록 일괄 수정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내 기록 3개 수정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6075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[✓] 설명 적용   /   [ ]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6133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설명 | 함께한 산책  [설명 비우기]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74177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78181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[✓] 기록일 적용   2026.10.18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21374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33388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[✓] 방문 적용  |  장소 미지정 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685713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83445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③ 변경할 필드와 3개 대상을 확인해요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21489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33503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변경 내용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5941" y="568686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056" y="580700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3개에 함께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 중인 작성자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필드별 적용/유지, 빈 문자열·방문 해제는 명시적 동작이다. 날짜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변경으로 기존 방문이 안 맞으면 해제·재선택한다.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본인·같은 모임/일정·120개·버전·대상 방문의 사진5/영상2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한도 검증. 설명 검사 중에는 기존 공개 내용을 유지한다.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검사를 통과한 뒤 재검증하여 전체 원자 적용. 하나라도 오류면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전체 미적용과 대상별 이유·입력을 유지한다.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필드 미선택 / 다른 일정 혼입 / 대상 방문 한도 초과 / 검사 중·거부 / 버전 충돌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/ 일부 적용 금지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metadataPatch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UI21  휴대폰 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F19 / F20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휴대폰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선택한 기록 3개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7363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사진 2개  ·  영상 1개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위치 정보를 제거한 파일로 준비해요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51865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파일 준비 중  2/3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87049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99062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휴대폰에 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941" y="434246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Pictures/At that place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Movies/At that 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74292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다른 앱으로 보내는 기능은 제공하지 않아요.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기기의 원본을 덮어쓰지 않아요.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원래 해상도의 위치 제거 저장본 우선. 지원 불가 시 호환본과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변환 여부 안내. UI16 선택 모드 또는 UI18에서 진입한다.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내려받기와 기기 쓰기를 구분하고 성공 뒤 경로 표시. 부분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성공이면 실패만 재시도한다. 임시 파일은 기기 쓰기 후 정리한다.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374136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OS 공유창·외부 앱 전달은 1차 범위에서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제거했다(2026-10-20 회의). 저장 요청은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purpose=save만 허용한다.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준비 / 다운로드 / 기기 쓰기 / 부분 실패 / 공간 부족 / 권한 변경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exportCreate, exportGet, exportFile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UI22  내가 올린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F18 / F21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내가 올린 기록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19427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전체 모임 &gt;  ·  기한순 &gt;  ·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5921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주말 산책 · 우리의 서울 여행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참여 중 · 2027.01.19까지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28410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4660" y="341282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416" y="344857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3207" y="373032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지민 · 사진  /  영상 00:03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285253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41826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이전 모임 · 바다 여행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참여 종료 · 본인 조회·삭제 가능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94315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4660" y="507187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416" y="510762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207" y="538937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지민 · 사진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941" y="5944303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③ 참여 종료 후 새 저장은 할 수 없어요.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5941" y="634476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056" y="646490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선택한 내 서버 기록 삭제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작성자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활성 참여·빈자리·초대를 요구하지 않는다. 종료 모임의 본인 보존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파일도 최소 정보와 함께 표시한다.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타인 파일·공동 계획·참여자 목록을 노출하지 않는다. 본인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확대/재생/삭제만 가능하다.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삭제는 최대120개·다른 모임 혼합 허용. 사전 권한 오류는 전체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거부, 실행 결과는 파일별 성공·실패·이미삭제로 표시한다.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참여 중·종료 / 만료 상태30일·설명 숨김 / 파일별 삭제 실패 / 이미 삭제 멱등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성공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mineList, mediaDelete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UI23  초대 발급과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F05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초대 발급과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모임에 초대하기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현재 6/10명 · 초대는 7일 · 확인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50회까지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2403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① 초대 코드  Q7KM2P8R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10.17 12:00 발급 → 10.24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12:00 만료 · 확인 12/50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91911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② 링크 복사   /   OS 공유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39108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이 초대 취소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74292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82587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이전 초대  H5TW8C2N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10.16 발급 · 소진 50/50  · 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941" y="540082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받은 사람이 다른 사람에게 전달하면 그 사람도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참여할 수 있어요.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8012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92141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새 초대 발급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모든 현재 참여자(방장 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모든 현재 참여자가 같은 모임의 초대를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조회·발급·공유·복사·취소한다. 발급자 본인 여부는 관리 권한의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기준이 아니다. 참여 종료·모임 종료·이용 제한은 서버가 재검증한다.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816352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코드 길이8자는 기술 설계안이며 기능명세의 고정 정책이 아니다.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만료는 서버 발급시각+168시간, 확인 횟수는 서버가 그 초대로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미리보기를 응답한 수이며 50회에 소진된다.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849624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모임명·요약·링크·코드만 공유. 공유 취소는 초대 취소가 아니다.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상태는 사용 가능·소진·만료·취소로 구분한다.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645152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새 발급은 기존 초대를 유지하고 횟수는 0부터 시작한다. 같은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요청 재시도는 동일 초대. 참여 확정은 횟수를 소모하지 않으며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소진·취소는 기존 참여자에게 영향이 없다.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발급 실패·결과 불명 / 취소·만료·소진 / 정원10명 / 일반 참여자 동일 권한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비참여·탈퇴·퇴장·이용 제한 거부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invitesList, inviteCreate, inviteRevoke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UI24  초대 확인과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/ F05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초대 확인과 참여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302975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초대 코드  |  Q7KM2P8R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8341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81642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주말 산책 모임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우리의 서울 여행 · 10.17–10.19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941" y="334131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참여 후에 장소와 기록을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74177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86190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로그인하고 참여 계속하기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21374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33388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참여하기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4685713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확인한 내용은 로그인 뒤에도 유지돼요. 초대는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7일 · 확인 50회까지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초대받은 사용자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비로그인 미리보기는 모임명·일정 요약만 공개한다. 대표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사진·참여자·기록·장소 목록은 공개하지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78608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인증/가입 뒤 같은 초대 확인으로 복귀한다. 로그인 성공만으로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자동 참여시키지 않는다. 복귀 시 앱이 보관한 확인 결과를 쓰고 확인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횟수를 추가하지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확정 시 유효성·정원·차단·활성100모임·이용제한을 재검증한다.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이미 참여했으면 인원 증가 없이 UI05로 이동한다.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잘못된 코드 / 로그인 전·후 / 만료 / 소진(50회) / 취소 / 정원 초과 / 차단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/ 종료 모임 / 이미 참여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invitePreview, inviteJoin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UI25  모임 정보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F04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 정보 변경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92964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4660" y="2282952"/>
            <a:ext cx="357553" cy="300345"/>
          </a:xfrm>
          <a:prstGeom prst="roundRect">
            <a:avLst>
              <a:gd name="adj" fmla="val 21428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0416" y="2318707"/>
            <a:ext cx="286043" cy="2145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1126" b="0">
                <a:solidFill>
                  <a:srgbClr val="B8433F"/>
                </a:solidFill>
                <a:latin typeface="Noto Sans CJK KR"/>
              </a:defRPr>
            </a:pPr>
            <a:r>
              <a:t>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207" y="2600459"/>
            <a:ext cx="2288344" cy="4076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4E5968"/>
                </a:solidFill>
                <a:latin typeface="Noto Sans CJK KR"/>
              </a:defRPr>
            </a:pPr>
            <a:r>
              <a:t>① 대표 사진  ·  16:9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15538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7552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사진 선택  /  기본 이미지로 복원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627354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77609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모임 이름  |  주말 산책 모임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156534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대표 사진 긴 변 1600px 이하 · 저장본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5MB 이하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4556994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③ 위치 태그 제거·콘텐츠 검사 후 반영해요.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95745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07759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변경 저장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사진 한 장 선택·미리보기·교체. 일반 기록 파일에 대표사진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한도를 적용하지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공백만 금지·50자. 최신 버전과 현재 방장 확인. 새 초대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정보에 변경 이름을 반영한다.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취소·변환·전송·검사 실패·동시 충돌 시 기존 공개 정보와 입력을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유지한다.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기본 이미지 / 사진 선택·검사 중 / 검사 거부 / 버전 충돌 / 일반 참여자 거부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groupUpdate, coverPrepare, uploadHead, uploadChunk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UI26  참여자와 역할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F22 / F25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참여자와 역할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함께하는 사람 6/10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6075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지민  ·  방장   (나)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3273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수현  ·  참여자     더보기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68456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80470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민서  ·  참여자        더보기 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15653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27667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② 방장 이전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62850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74864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재참여 차단 목록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941" y="5100476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신고 · 개인 차단  /  모임 나가기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참여자·방장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목록에는 표시명·방장 표시만 제공한다. 소셜 식별값·연락처는 표시하지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방장은 타인 퇴장과 모임별 재참여 차단을 함께 처리한다. 완료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파일과 본인 조회/삭제 권한은 유지한다.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즉시 이전이며 수락 대기 없음. ③ 방장만 차단 해제, 해제는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자동 재가입이 아니다. 개인 차단은 별도 UI31이다.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일반 참여자는 이전·퇴장 버튼 없음 / 대상이 나감 / 이전 충돌 / 오래된 퇴장 재시도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membersList, ownerTransfer, memberRemove, reentryUnblock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UI27  모임 나가기와 종료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F22 / F23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모임 나가기와 종료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모임을 나가시겠어요?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2357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올린 기록은 표시된 기한까지 유지돼요.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본인 기록은 나간 뒤에도 조회·삭제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가능해요.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41" y="33985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나간 뒤 새 저장·정보 수정은 불가해요.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79898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91911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방장인 경우 후임 선택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339601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③ 혼자 남은 방장은 모임 종료와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본인 서버 기록 삭제를 확인해 주세요.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80013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92026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확인하고 나가기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27210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39224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참여자·방장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다른 참여자가 있으면 방장 이전 성공을 먼저 확인한다. 방장인 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나가기는 거부한다.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마지막1명일 때만 종료. 타인 유효 파일은 기한까지 본인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조회/삭제용 보존한다. 모임은 재개 불가다.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새 참여·역할 이전과 직렬화하여 종료 가능 여부를 재검증한다.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파일·계정 삭제 우선 규칙을 적용한다.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일반 나가기 / 방장 후임 필요 / 마지막 방장 / 동시 참여로 종료 거부 / 정리 실패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추적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groupLeave, groupClose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UI28  설정과 문의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F02 / F18 / F24 / F28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설정과 문의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74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표시명  지민  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4634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내가 올린 기록  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09817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1831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로그인 수단 관리 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570145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690283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약관·개인정보·동의 내역  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042116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162255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저장 공간과 캐시  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451408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463422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차단 목록 · 신고 결과 · 문의  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941" y="498605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6056" y="510619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로그아웃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941" y="5458030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계정 삭제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본인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표시명 변경은 작성자 표시에도 반영하되 소유ID는 유지한다. 사진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프로필 설정은 없다.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문서버전·선택시각·변경·철회를 조회한다. 선택 동의는 변경 가능,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필수 철회는 계정 삭제로 연결한다.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진행 업로드가 있으면 작업확인/중단 후 로그아웃/돌아가기. 실제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공개 문의 연락처는 배포 전에 설정한다.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문의 식별값 / 세션 만료 / 업로드 중 로그아웃 / 다른 계정 캐시 분리 / 필수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재동의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profilePatch, consentDocs, consentUpdate, logout, inquiryCreate, profileGet, consentsMine, notificationsList, notificationRead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UI29  로그인 수단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로그인 수단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로그인 수단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95372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카카오  ·  연결됨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61162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Google  ·  연결하기 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941" y="4056419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같은 이메일이어도 자동 연결하지 않아요.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456879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577017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본인 재인증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928850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연결 해제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재인증한 본인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본인 재인증과 새 공급자 인증 둘 다 필요. 공급자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subject가 다른 앱 계정 소유이면 거부한다.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세션 소유자와 최근 재인증을 확인하고 명시적 연결만 수행한다.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기존 두 계정 데이터 병합은 없다.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마지막 로그인 수단 해제는 거부한다. 공급자 토큰·비밀값을 화면과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로그에 노출하지 않는다.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연결 성공 / 다른 계정 사용 중 / 마지막 수단 해제 거부 / 재인증 만료 / 사용자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취소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identityLink, identityUnlink, identitiesList, reauthenticate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UI30  계정 삭제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F24 / F02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계정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계정을 삭제하기 전에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2357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① 방장 역할 정리 필요 2개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산책 모임: 방장 이전 &gt;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혼자 있는 모임: 종료와 본인 기록 삭제 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41" y="33985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② 모든 모임의 내 서버 기록이 삭제돼요.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나간 모임·종료 모임도 포함해요.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941" y="379898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타인 기록·기기 원본·외부 사본은 유지돼요.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19944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31957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[ ] 삭제 결과를 확인했어요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67141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79154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③ 본인 확인 후 계정 삭제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재인증한 본인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방장 역할 정리가 하나라도 남으면 서버에서 거부한다. 자동 후임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선임은 하지 않는다.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조회 목록이 아닌 작성자ID로 전체 파일을 찾고 계정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접근·업로드·완료부터 차단한다.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삭제 직전 역할 수신/신규 모임을 다시 검증한다. 조회 차단과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물리정리 진행 상태를 분리한다.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역할 정리 필요 / 재인증 / 동시 역할 수신 / 삭제 접수·정리 중 / 결과 불명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accountDelete, deletionPreconditions, reauthenticate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UI31  신고와 개인 차단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F25 / F26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신고와 개인 차단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5941" y="215423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6056" y="2274370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신고 대상  |  수현의 사진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2626203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2774946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사유  |  내용을 입력해 주세요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155383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27552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② 신고 접수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3627354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3747492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이 사용자의 기록 숨기기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099325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232335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내 신고 결과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검토 중 · 문의용 번호 RPT-2026-…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941" y="4757224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차단 목록  /  조치 이의 문의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파일·대표 사진·참여자를 신고하며 사유2000자와 최소 증거를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연결한다.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신고만으로 자동 삭제하지 않는다. 최초24시간, 이의3영업일 검토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기준을 적용한다.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개인 차단은 내 공동 목록·집계·저장/공유·직접경로에만 적용한다.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방장 역할·타인 화면·기한을 바꾸지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신고 중복 / 검토·조치·미조치 / 차단·해제 / 서비스 제한 중 문의·삭제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reportCreate, reportsMine, blockCreate, blockDelete, inquiryCreate, blocksList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UI32  방장 부재 복구 문의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F27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방장 부재 복구 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방장 부재 복구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89363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부재 사유와 최소 확인 자료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6980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89938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후임 후보  |  수현 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941" y="3741771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후임의 별도 동의와 본인 확인이 필요해요.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14223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D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210882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③ 기존 방장에게 통지하고 7일간</a:t>
            </a:r>
          </a:p>
          <a:p>
            <a:pPr>
              <a:spcAft>
                <a:spcPts val="100"/>
              </a:spcAft>
              <a:defRPr sz="900" b="0">
                <a:solidFill>
                  <a:srgbClr val="B8433F"/>
                </a:solidFill>
                <a:latin typeface="Noto Sans CJK KR"/>
              </a:defRPr>
            </a:pPr>
            <a:r>
              <a:t>응답을 기다린 뒤 담당자가 검토해요.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941" y="467141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056" y="479154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④ 복구 검토 요청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5941" y="514338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056" y="5356484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처리 상태  접수 → 확인 → 통지 →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현재 참여자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접수만으로 역할 변경하지 않는다. 요청자 재인증·참여이력·후임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의사·부재 근거를 확인한다.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앱 내 계정 알림과 동의한 보조 연락수단에 통지한다. 7일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경과만으로 자동 승인하지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운영자가 실행 직전 현재 방장·후임·모임상태·버전을 확인한다. 종료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모임 재개 불가, 분쟁/증거부족은 보류한다.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자료 부족 / 통지·응답 대기 / 이의·보류 / 직접 이전으로 오래된 승인 무효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승인·거절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recoveryCreate, recoveryGet, reauthenticate, recoveryConsent, recoveryResponse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UI33  저장 공간과 캐시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F28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저장 공간과 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저장 공간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823573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① 모임 원본  1.2GB / 5GB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전송 예약 0.1GB · 남은 용량</a:t>
            </a:r>
          </a:p>
          <a:p>
            <a:pPr>
              <a:spcAft>
                <a:spcPts val="100"/>
              </a:spcAft>
              <a:defRPr sz="788" b="0">
                <a:solidFill>
                  <a:srgbClr val="191F28"/>
                </a:solidFill>
                <a:latin typeface="Noto Sans CJK KR"/>
              </a:defRPr>
            </a:pPr>
            <a:r>
              <a:t>3.7GB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398520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531530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기기 재생 캐시 210MB /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최대500MB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4056419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4189429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미완료 업로드 임시 파일 80MB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업로드가 끝날 때까지 별도로 보관해요.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714318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83445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④ 재생 캐시만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5186289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삭제한 원본은 실제 정리 완료 후 용량이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돌아와요.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로그인한 본인·모임 참여자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783080"/>
            <a:ext cx="74066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완료 원본 바이트+예약으로 접수 검증.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5GB=5,000,000,000바이트, 파생본 사용량은 운영용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별도다.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816352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② LRU500MB. ③ 유일 업로드 원본·설명·보류 작업은 캐시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정리에서 제외한다.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6118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④ 캐시 삭제는 서버 기록 삭제가 아니다. 저장용 임시 파일은 기기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쓰기 완료 후 정리한다.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공간 조회 실패 / 한도 도달 / 정리 중·실패 / 원본 정리 대기 / 로그아웃 계정별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분리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storageUsage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UI34  운영 검토와 복구 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F25 / F26 / F27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운영 검토와 복구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운영 검토 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941" y="2740620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056" y="2780666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① 검사 대기 12  /  신고 3  / 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복구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5941" y="321259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056" y="334560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② 비공개 영상 · 판정 불가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대상·근거·최소 증거·처리 이력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941" y="387049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6056" y="399062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③ 제한 / 삭제 / 해제 / 이용 제한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941" y="4342462"/>
            <a:ext cx="2502876" cy="457668"/>
          </a:xfrm>
          <a:prstGeom prst="roundRect">
            <a:avLst>
              <a:gd name="adj" fmla="val 18750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6056" y="4491204"/>
            <a:ext cx="2302646" cy="4147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처리 사유  |  필수 입력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941" y="487164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056" y="499177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④ 이의·결과 안내  /  복구 요청 상세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941" y="5343612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B8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6056" y="5463751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FFFFFF"/>
                </a:solidFill>
                <a:latin typeface="Noto Sans CJK KR"/>
              </a:defRPr>
            </a:pPr>
            <a:r>
              <a:t>⑤ 검증 후 조치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별도 인증 운영자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운영 전용 웹 화면의 모바일 폭 축약 와이어프레임이다. 실제 운영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화면은 목록+상세 2열로 구현한다.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일반 방장과 분리한 운영 권한·사유·처리자·시각 감사이력을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남긴다. 검사 장애는 비공개 수동 검토로 보낸다.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⑤ 복구는 통지·7일 대기·후임 동의·수동 결정 후 버전을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재검증한다. 증거 암호화·종료 후90일 이내 정리.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운영 로그인 실패 / 권한 부족 / 동시 조치 / SLA 초과 / 복구 이견·종료 /</a:t>
            </a:r>
          </a:p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감사 저장 실패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opsQueue, opsAction, opsRecovery, opsCaseGet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UI35  오류와 변경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1차 신규 설계안 · 도형/텍스트 개별 편집 가능 · F01 / F08 / F15 / F28  ·  2026-10-24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1">
                <a:solidFill>
                  <a:srgbClr val="B8433F"/>
                </a:solidFill>
                <a:latin typeface="Noto Sans CJK KR"/>
              </a:defRPr>
            </a:pPr>
            <a:r>
              <a:t>1차 화면 설계안 · 390×844dp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788920" cy="6035508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5941" y="1439124"/>
            <a:ext cx="1430215" cy="178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675" b="0">
                <a:solidFill>
                  <a:srgbClr val="5F6B78"/>
                </a:solidFill>
                <a:latin typeface="Noto Sans CJK KR"/>
              </a:defRPr>
            </a:pPr>
            <a:r>
              <a:t>9:41   ·   Android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941" y="1696563"/>
            <a:ext cx="250287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95" b="1">
                <a:solidFill>
                  <a:srgbClr val="191F28"/>
                </a:solidFill>
                <a:latin typeface="Noto Sans CJK KR"/>
              </a:defRPr>
            </a:pPr>
            <a:r>
              <a:t>‹  오류와 변경 결과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1" y="2154232"/>
            <a:ext cx="2502876" cy="514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351" b="1">
                <a:solidFill>
                  <a:srgbClr val="191F28"/>
                </a:solidFill>
                <a:latin typeface="Noto Sans CJK KR"/>
              </a:defRPr>
            </a:pPr>
            <a:r>
              <a:t>① 저장 결과를 확인 중이에요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941" y="2740620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요청은 접수됐을 수 있어요.</a:t>
            </a:r>
          </a:p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내용을 다시 만들지 않고 확인할게요.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941" y="314108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056" y="326121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② 같은 요청 결과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941" y="3613052"/>
            <a:ext cx="2502876" cy="586388"/>
          </a:xfrm>
          <a:prstGeom prst="roundRect">
            <a:avLst>
              <a:gd name="adj" fmla="val 14634"/>
            </a:avLst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056" y="3746062"/>
            <a:ext cx="2302646" cy="5434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③ 다른 사람이 먼저 수정했어요.</a:t>
            </a:r>
          </a:p>
          <a:p>
            <a:pPr>
              <a:spcAft>
                <a:spcPts val="100"/>
              </a:spcAft>
              <a:defRPr sz="900" b="0">
                <a:solidFill>
                  <a:srgbClr val="191F28"/>
                </a:solidFill>
                <a:latin typeface="Noto Sans CJK KR"/>
              </a:defRPr>
            </a:pPr>
            <a:r>
              <a:t>내 입력을 유지했어요. 최신 내용 확인 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941" y="4270951"/>
            <a:ext cx="2502876" cy="40046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056" y="4391089"/>
            <a:ext cx="2302646" cy="3575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  <a:defRPr sz="900" b="1">
                <a:solidFill>
                  <a:srgbClr val="B8433F"/>
                </a:solidFill>
                <a:latin typeface="Noto Sans CJK KR"/>
              </a:defRPr>
            </a:pPr>
            <a:r>
              <a:t>최신 내용에 다시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941" y="4742922"/>
            <a:ext cx="2502876" cy="3289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5F6B78"/>
                </a:solidFill>
                <a:latin typeface="Noto Sans CJK KR"/>
              </a:defRPr>
            </a:pPr>
            <a:r>
              <a:t>④ 문의용 번호 REQ-2026-…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941" y="5143382"/>
            <a:ext cx="2502876" cy="2717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788" b="0">
                <a:solidFill>
                  <a:srgbClr val="B8433F"/>
                </a:solidFill>
                <a:latin typeface="Noto Sans CJK KR"/>
              </a:defRPr>
            </a:pPr>
            <a:r>
              <a:t>문의하기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25524" y="7260101"/>
            <a:ext cx="743712" cy="28604"/>
          </a:xfrm>
          <a:prstGeom prst="roundRect">
            <a:avLst>
              <a:gd name="adj" fmla="val 25000"/>
            </a:avLst>
          </a:prstGeom>
          <a:solidFill>
            <a:srgbClr val="191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14173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명세 기반</a:t>
            </a:r>
          </a:p>
          <a:p>
            <a:pPr>
              <a:spcAft>
                <a:spcPts val="100"/>
              </a:spcAft>
              <a:defRPr sz="2400" b="1">
                <a:solidFill>
                  <a:srgbClr val="B8433F"/>
                </a:solidFill>
                <a:latin typeface="Noto Sans CJK KR"/>
              </a:defRPr>
            </a:pPr>
            <a:r>
              <a:t>신규 화면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606040"/>
            <a:ext cx="23774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데모에서 동작을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확인한 화면이 아닙니다.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구현·실제 연동·실기기</a:t>
            </a:r>
          </a:p>
          <a:p>
            <a:pPr>
              <a:spcAft>
                <a:spcPts val="100"/>
              </a:spcAft>
              <a:defRPr sz="1800" b="0">
                <a:solidFill>
                  <a:srgbClr val="5F6B78"/>
                </a:solidFill>
                <a:latin typeface="Noto Sans CJK KR"/>
              </a:defRPr>
            </a:pPr>
            <a:r>
              <a:t>검수가 필요합니다.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024128"/>
            <a:ext cx="7452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1">
                <a:solidFill>
                  <a:srgbClr val="191F28"/>
                </a:solidFill>
                <a:latin typeface="Noto Sans CJK KR"/>
              </a:defRPr>
            </a:pPr>
            <a:r>
              <a:t>대상  작업 중 사용자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783080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① 응답 유실과 확정 실패를 구분한다. 업무 요청ID/멱등키로 기존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결과를 확인한다.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578608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③ 버전 충돌 시 자동 덮어쓰지 않고 내 입력·최신 값·재적용·취소를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제공한다.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374136"/>
            <a:ext cx="7406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오프라인은 신규 조회/쓰기 제한과 재시도, 권한상실은 공동화면 종료</a:t>
            </a:r>
          </a:p>
          <a:p>
            <a:pPr>
              <a:spcAft>
                <a:spcPts val="100"/>
              </a:spcAft>
              <a:defRPr sz="1700" b="0">
                <a:solidFill>
                  <a:srgbClr val="191F28"/>
                </a:solidFill>
                <a:latin typeface="Noto Sans CJK KR"/>
              </a:defRPr>
            </a:pPr>
            <a:r>
              <a:t>후 본인 기록 경로 유지. 내부 경로·토큰은 노출하지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468112"/>
            <a:ext cx="7452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600" b="1">
                <a:solidFill>
                  <a:srgbClr val="B8433F"/>
                </a:solidFill>
                <a:latin typeface="Noto Sans CJK KR"/>
              </a:defRPr>
            </a:pPr>
            <a:r>
              <a:t>상태와 예외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852160"/>
            <a:ext cx="7406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400" b="0">
                <a:solidFill>
                  <a:srgbClr val="4E5968"/>
                </a:solidFill>
                <a:latin typeface="Noto Sans CJK KR"/>
              </a:defRPr>
            </a:pPr>
            <a:r>
              <a:t>로딩 / 실제 빈 결과 / 조회 실패 / 오프라인 / 충돌 / 결과 불명 / 권한 상실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6903720"/>
            <a:ext cx="7406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200" b="0">
                <a:solidFill>
                  <a:srgbClr val="5F6B78"/>
                </a:solidFill>
                <a:latin typeface="Noto Sans CJK KR"/>
              </a:defRPr>
            </a:pPr>
            <a:r>
              <a:t>API  operationGet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01-entry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1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앱 시작 후 일정 선택 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2026-10-17T13:50:46.914309+09:00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02-schedule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일정 선택 → 우리의 서울 여행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2026-10-17T13:55:16.764717+09:00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03-day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3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서울 여행 → 10월17일 날짜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2026-10-17T13:55:21.183702+09:00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04-place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4-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10월17일 → 서울숲 산책길 기록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2026-10-17T13:56:46.854703+09:00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05-upload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5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장소 기록 → 사진·동영상 올리기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2026-10-17T13:56:58.277306+09:00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06-media-source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6-media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업로드 시트 → 추가 버튼 → 파일/촬영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2026-10-17T13:59:12.890150+09:00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07-place-search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7-place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날짜 목록 → 장소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2026-10-17T14:00:34.555451+09:00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08-cafe-results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8-caf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예시 지도 → 카페 분류 선택 (실제 지도 검색 아님)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2026-10-17T14:01:22.465254+09:00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09-plan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09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날짜 장소 목록 → 순서 편집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2026-10-17T14:04:53.176010+09:00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10-order-edited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10-order-edi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서울숲 아래로 버튼으로 방문 순서 변경 (저장 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2026-10-17T14:05:05.889091+09:00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11-order-saved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11-order-sa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변경 저장 → 날짜 목록에서 오후의 커피가 첫 번째인지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2026-10-17T14:05:10.251630+09:00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12-search-add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12-search-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장소 추가 → 카페 분류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2026-10-17T14:07:10.984035+09:00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13-add-candidate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13-add-cand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예시 장소 결과 스크롤 → 한남 브런치 카페 추가 후보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2026-10-17T14:07:16.093911+09:00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86384"/>
          </a:xfrm>
          <a:prstGeom prst="rect">
            <a:avLst/>
          </a:prstGeom>
          <a:solidFill>
            <a:srgbClr val="202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371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FFFFFF"/>
                </a:solidFill>
                <a:latin typeface="Noto Sans CJK KR"/>
              </a:defRPr>
            </a:pPr>
            <a:r>
              <a:t>APK 관찰  14-place-added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845552"/>
            <a:ext cx="1371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100" b="0">
                <a:solidFill>
                  <a:srgbClr val="5F6B78"/>
                </a:solidFill>
                <a:latin typeface="Noto Sans CJK KR"/>
              </a:defRPr>
            </a:pPr>
            <a:r>
              <a:t>원본 스크린샷 · 이번 실행 · 설계안/실서비스 검수 결과와 구분  ·  2026-10-24</a:t>
            </a:r>
          </a:p>
        </p:txBody>
      </p:sp>
      <p:pic>
        <p:nvPicPr>
          <p:cNvPr id="5" name="Picture 4" descr="14-place-ad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2921508" cy="6492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89120" y="128016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600" b="1">
                <a:solidFill>
                  <a:srgbClr val="191F28"/>
                </a:solidFill>
                <a:latin typeface="Noto Sans CJK KR"/>
              </a:defRPr>
            </a:pPr>
            <a:r>
              <a:t>한남 브런치 카페 추가 → 날짜 목록 반영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6060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촬영 시각  2026-10-17T14:07:30.861131+09:00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Android 15(API35) · daylog35 · 1080×2400</a:t>
            </a:r>
          </a:p>
          <a:p>
            <a:pPr>
              <a:spcAft>
                <a:spcPts val="100"/>
              </a:spcAft>
              <a:defRPr sz="1900" b="0">
                <a:solidFill>
                  <a:srgbClr val="4E5968"/>
                </a:solidFill>
                <a:latin typeface="Noto Sans CJK KR"/>
              </a:defRPr>
            </a:pPr>
            <a:r>
              <a:t>예시 데이터 기반 데모 모드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61772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관찰 근거: PNG + UI XML + 화면 텍스트 + 실행 경로</a:t>
            </a:r>
          </a:p>
          <a:p>
            <a:pPr>
              <a:spcAft>
                <a:spcPts val="100"/>
              </a:spcAft>
              <a:defRPr sz="2000" b="0">
                <a:solidFill>
                  <a:srgbClr val="5F6B78"/>
                </a:solidFill>
                <a:latin typeface="Noto Sans CJK KR"/>
              </a:defRPr>
            </a:pPr>
            <a:r>
              <a:t>실제 로그인·서버 업로드·공동 동기화·실제 지도·검사·만료는 이 캡처로 검증되지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