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카카오톡 이용 불가 시 카카오계정 웹 인증으로 전환한다.</a:t>
            </a:r>
          </a:p>
          <a:p>
            <a:r>
              <a:t>② 공급자 식별값으로 로그인하며 이메일로 계정을 합치지 않는다.</a:t>
            </a:r>
          </a:p>
          <a:p>
            <a:r>
              <a:t>초대 진입 경로와 미완료 작업을 보존한다. 신규 가입이면 UI02, 기존이면 UI03 또는 UI24로 이동한다.</a:t>
            </a:r>
          </a:p>
          <a:p>
            <a:r>
              <a:t>세션 복원 중에는 스플래시 유지 / 인증 취소는 이전 상태 / 오프라인·인증 실패·서비스 장애를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항목별 문서와 버전을 열람한다. 실제 동의 항목·문구는 운영 문서 확정 후 적용한다.</a:t>
            </a:r>
          </a:p>
          <a:p>
            <a:r>
              <a:t>② NFC 정규화와 앞뒤 공백 제거 후 사용자 인식 문자 1~20자. 소셜 이름은 제안값이다.</a:t>
            </a:r>
          </a:p>
          <a:p>
            <a:r>
              <a:t>필수 미동의 시 제출 비활성, 선택 거부로 가입을 막지 않는다. 사진 프로필 입력은 제공하지 않는다.</a:t>
            </a:r>
          </a:p>
          <a:p>
            <a:r>
              <a:t>필수 미선택 / 표시명 공백·21자 / 문서 로딩 실패 / 검사 중·거부 / 초대 복귀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열람은 활동 시각을 갱신하지 않는다. 동률은 생성시각·ID 역순이다.</a:t>
            </a:r>
          </a:p>
          <a:p>
            <a:r>
              <a:t>② 카드 → UI05 모임 달력. 일정 요약은 진행 중→가까운 미래→최근 과거이며 취소는 제외한다.</a:t>
            </a:r>
          </a:p>
          <a:p>
            <a:r>
              <a:t>③ 첫 일정을 포함해 UI04에서 생성. ④ UI24 코드 입력. 종료한 모임은 공동 상세로 열지 않는다.</a:t>
            </a:r>
          </a:p>
          <a:p>
            <a:r>
              <a:t>로딩 / 모임 없음과 조회 실패 구분 / 30개 커서 / 활성 100개·방장 생성 20개 한도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모임 이름 1~50자, ② 일정 제목 1~100자. 공개 전 텍스트 검사를 수행한다.</a:t>
            </a:r>
          </a:p>
          <a:p>
            <a:r>
              <a:t>③ 날짜만 입력한다(종일/시간 지정 없음). 종료 날짜 포함 366일 이내, 과거 날짜 허용. ④ 예정 시각은 UI10/UI11에서 방문별로 입력하고 UI08에 표시한다.</a:t>
            </a:r>
          </a:p>
          <a:p>
            <a:r>
              <a:t>⑤ 모임·방장 참여·첫 일정은 하나의 트랜잭션으로 생성한다. 재시도에는 같은 요청 키를 사용한다.</a:t>
            </a:r>
          </a:p>
          <a:p>
            <a:r>
              <a:t>필수 누락 / 날짜 역전·367일 / 검사 대기 / 결과 확인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월~일 시작. 날짜 셀 최대 3개와 +N을 표시하고 날짜 탭으로 전체 일정을 연다.</a:t>
            </a:r>
          </a:p>
          <a:p>
            <a:r>
              <a:t>② 일정 탭 → UI08로 바로 이동. 날짜를 별도 공간으로 생성하지 않는다. 취소 일정은 표시를 유지한다.</a:t>
            </a:r>
          </a:p>
          <a:p>
            <a:r>
              <a:t>③ 초대·관리에서 모든 현재 참여자가 UI23에 진입한다. 보기 방식은 기기에 보관한다. ④ 현재 방장만 UI06에서 일정을 수동 추가한다. 반복 생성은 없다. 뒤로 오면 월·선택·스크롤을 복원한다.</a:t>
            </a:r>
          </a:p>
          <a:p>
            <a:r>
              <a:t>달력 로딩 / 일정 없음 / 월 조회 실패 / 같은 날 4개 이상 / 여러 날 일정의 모든 셀 표시 / 날짜 요청 범위 366일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제목 100자. ② 날짜만 입력하며 시작 ≤ 종료, 포함 366일. 겹치는 일정은 안내 후 허용한다.</a:t>
            </a:r>
          </a:p>
          <a:p>
            <a:r>
              <a:t>③ 변경 저장 전에 기간 밖이 될 방문·기록 수를 서버가 계산해 확인받는다. 기록은 삭제되지 않고 기간 밖 구역에 유지된다.</a:t>
            </a:r>
          </a:p>
          <a:p>
            <a:r>
              <a:t>④ 기록·업로드가 있으면 삭제 불가이며 취소로 전환한다. 취소 후 신규 촬영·접수는 금지한다. 빈 일정만 완전 삭제한다.</a:t>
            </a:r>
          </a:p>
          <a:p>
            <a:r>
              <a:t>기간 밖 기록 확인 / 버전 충돌과 입력 보존 / 기록 있는 삭제 거부 / 취소 재활성 거부 / 미저장 이탈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서울 여행 일정 열기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헤더는 뒤로가기와 브랜드. 16:9 대표 배너는 화면 가로 끝까지 표시한다.</a:t>
            </a:r>
          </a:p>
          <a:p>
            <a:r>
              <a:t>날짜 카드에 날짜·제목·장소/미디어 수를 표시한다. DAY 배지·썸네일·카드 안 추가 버튼은 없다.</a:t>
            </a:r>
          </a:p>
          <a:p>
            <a:r>
              <a:t>일정 추가는 마지막 날 다음 날짜를 추가하는 데모 동작이다. 새 일정 생성(UI06)과 다르다.</a:t>
            </a:r>
          </a:p>
          <a:p>
            <a:r>
              <a:t>제품 구현 계약(데모에서 미구현 가능):</a:t>
            </a:r>
          </a:p>
          <a:p>
            <a:r>
              <a:t>① 완료 전 예상, 첫 완료 후 고정 기한으로 표시한다. 기한 예시는 2026.10.19 종료에 대응한다.</a:t>
            </a:r>
          </a:p>
          <a:p>
            <a:r>
              <a:t>② 전체가 기본이며 날짜는 필터다. ③ 장소 계획은 방문일별 순서·예정 시각(미입력은 시간 미정)·장소별 개수를 표시한다. 일정에는 시각이 없다.</a:t>
            </a:r>
          </a:p>
          <a:p>
            <a:r>
              <a:t>④ 미지정도 업로드 가능. ⑤ UI10, 날짜별 15개 도달 시 비활성과 사유 표시. ⑥ UI14. 취소·만료 시 새 업로드를 막고 이유를 표시한다.</a:t>
            </a:r>
          </a:p>
          <a:p>
            <a:r>
              <a:t>상태: 빈 일정 / 전체·날짜 필터 / 기간 밖 기록 구역 / 장소 15개 도달 / 취소 / 만료 / 권한 상실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S01 → 배경 사진 변경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앨범에서 사진 고르기·취소. 직접 선택한 사진이 있으면 기본 이미지로 되돌리기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S01 → 날짜 카드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날짜 탭은 최대 4개씩 가로 스크롤. 선택 날짜의 장소를 순서·방문 시간과 함께 표시한다.</a:t>
            </a:r>
          </a:p>
          <a:p>
            <a:r>
              <a:t>장소 이미지는 생략하고 장소명·사진/영상 수·기록 진입 링크를 표시한다.</a:t>
            </a:r>
          </a:p>
          <a:p>
            <a:r>
              <a:t>편집은 빈 날짜에도 제공한다. 장소 추가는 S03, 장소 카드는 S04로 이동한다.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장소가 없는 10월 19일 선택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빈 상태에서도 편집과 장소 추가를 제공한다.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성수 당일치기 → 날짜별 장소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날짜가 하나인 일정에는 날짜 탭을 표시하지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S01에서 날짜 2개 추가 → 마지막 날짜 열기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추가한 날짜로 기간이 늘어나며 선택 탭이 온전히 보이도록 자동 스크롤한다.</a:t>
            </a:r>
          </a:p>
          <a:p>
            <a:r>
              <a:t>최대 4개 탭이 여백 안에 표시된다. 데모의 최대 30일은 제품 명세의 366일과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S04 → 사람별 보기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작성자별 카드와 사진 격자. 여러 장은 +N으로 펼치거나 접는다.</a:t>
            </a:r>
          </a:p>
          <a:p>
            <a:r>
              <a:t>이 캡처는 한 방문의 사람별 보기다. 일정 전체·기간 밖·장소 미지정 기록 조회는 기존 제품 계약으로 남는다.</a:t>
            </a:r>
          </a:p>
          <a:p>
            <a:r>
              <a:t>제품 구현 계약(데모에서 미구현 가능):</a:t>
            </a:r>
          </a:p>
          <a:p>
            <a:r>
              <a:t>① 날짜·방문·장소 미지정 필터. 목록 60개 커서. 카드 하나는 파일 하나다. 기간 밖 기록도 전체 목록에 표시한다.</a:t>
            </a:r>
          </a:p>
          <a:p>
            <a:r>
              <a:t>② 시간순은 촬영 시각 기준(없으면 업로드 완료 시각, 카드에 표시), 오름차순 기본. 사람별 묶음은 작성자 구역으로 묶고 구역 안은 시간순이다. 보기 방식은 기기에 기억한다.</a:t>
            </a:r>
          </a:p>
          <a:p>
            <a:r>
              <a:t>③ 카드 → UI18. ④ 길게 누르기 또는 선택 버튼 → UI16 선택 모드(저장·본인 수정·본인 삭제). 차단한 작성자는 목록·구역에서 제외한다.</a:t>
            </a:r>
          </a:p>
          <a:p>
            <a:r>
              <a:t>상태: 로딩·빈 필터 / 페이지 오류 / 촬영 시각 없음 / 차단·운영제한 집계 반영 / 후속 파일 부분 완료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장소 추가 → 카페 카테고리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검색창·카테고리·예시 지도·결과 시트. 현재 캡처는 오프라인 예시 검색이다.</a:t>
            </a:r>
          </a:p>
          <a:p>
            <a:r>
              <a:t>검색 결과와 핀을 연동하고 관련도순/거리순을 제공한다.</a:t>
            </a:r>
          </a:p>
          <a:p>
            <a:r>
              <a:t>추가 성공 시 S02로 복귀하고 마지막 순서에 추가·추가됨 표시. 실제 카카오 연동은 별도 검수.</a:t>
            </a:r>
          </a:p>
          <a:p>
            <a:r>
              <a:t>제품 구현 계약(데모에서 미구현 가능):</a:t>
            </a:r>
          </a:p>
          <a:p>
            <a:r>
              <a:t>① 국내 카카오맵 데이터 사용. 늦은 이전 응답은 버린다. 검색어 100자.</a:t>
            </a:r>
          </a:p>
          <a:p>
            <a:r>
              <a:t>② 지도 이동 후 명시적 재검색. 기본은 일정 첫 좌표 방문→기기 마지막 영역→서울시청이다.</a:t>
            </a:r>
          </a:p>
          <a:p>
            <a:r>
              <a:t>③ 현재 위치 버튼 때만 권한 요청. ⑤ 예정 시각은 5분 단위 또는 미정. 같은 일정·방문일·동일 공급자 장소 중복 금지, 날짜별 15개 초과 거부. 저장 뒤 UI08로 돌아간다.</a:t>
            </a:r>
          </a:p>
          <a:p>
            <a:r>
              <a:t>상태: 검색 전 / 결과 없음 / 공급자 오류 / 위치 거절·실패 / 중복 방문 / 장소 15개 도달 / 저장 충돌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카페 결과 → 성수 로스터리 카페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선택 날짜·주소를 확인하고 이 날의 장소로 추가한다. 선택만으로는 저장하지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이름 1~100자, 주소 200자. 좌표 없는 등록을 허용하며 지도 마커·거리를 만들지 않는다.</a:t>
            </a:r>
          </a:p>
          <a:p>
            <a:r>
              <a:t>② 좌표 비교는 소수점 6자리. 이름·주소 앞뒤·연속 공백 정리 후 세 값이 같으면 중복이다.</a:t>
            </a:r>
          </a:p>
          <a:p>
            <a:r>
              <a:t>③ 방문일 마지막 순서에 추가한다. 예정 시각은 선택 입력(미정 허용)이며 날짜별 15개를 넘으면 거부한다. 공급자 원장에 게시하지 않는다.</a:t>
            </a:r>
          </a:p>
          <a:p>
            <a:r>
              <a:t>이름 없음 / 좌표 없음 / 동일 수기 정보 중복 / 장소 15개 도달 / 검사 거부 / 재전송 중복 방지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S02 → 편집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날짜 제목 30자·위/아래 순서 이동·방문 시간·변경 저장.</a:t>
            </a:r>
          </a:p>
          <a:p>
            <a:r>
              <a:t>드래그 없이 ▲▼로 이동한다. 시간 변경으로 순서를 자동 정렬하지 않는다.</a:t>
            </a:r>
          </a:p>
          <a:p>
            <a:r>
              <a:t>장소 메모 100자 입력은 데모에 남아 있다. 제품 명세의 날짜 공통 메모 제외와 차이가 있다.</a:t>
            </a:r>
          </a:p>
          <a:p>
            <a:r>
              <a:t>제품 구현 계약(데모에서 미구현 가능):</a:t>
            </a:r>
          </a:p>
          <a:p>
            <a:r>
              <a:t>① 날짜 제목 30자, 비우면 날짜 표시. 날짜 전체 메모는 없다.</a:t>
            </a:r>
          </a:p>
          <a:p>
            <a:r>
              <a:t>② 드래그 외에 위/아래 이동 버튼도 제공한다. 시각 변경으로 자동 재정렬하지 않는다.</a:t>
            </a:r>
          </a:p>
          <a:p>
            <a:r>
              <a:t>③ 5분 단위/미입력 허용, 시각순 정렬 버튼은 눌렀을 때만 재정렬. 편집으로 방문을 추가하지 않으므로 15개 한도는 UI10/11에서 검사. ④ 숨긴 파일·업로드도 서버에서 검사한다. ⑤ 순서·시각·제목과 버전을 함께 저장한다.</a:t>
            </a:r>
          </a:p>
          <a:p>
            <a:r>
              <a:t>상태: 순서 중복·누락 / 타 날짜 혼입 / 버전 충돌 / 미저장 이탈: 저장·버리기·계속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S02 → 방문 시간 수정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오전/오후·시·분 휠. 분은 1분 단위이며 시간 미정·취소·확인 제공.</a:t>
            </a:r>
          </a:p>
          <a:p>
            <a:r>
              <a:t>기존 설계의 5분 단위 입력과 차이가 있다. 저장 형식은 HH:mm이다.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빈 날짜 → 편집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장소 행 없이 날짜 제목을 수정할 수 있다. 메모 입력은 데모에 남아 있는 차이 사항이다.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S02 → 오후의 커피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장소 헤더·올리기·사진/영상 수·최신/오래된순·사진별/사람별 전환.</a:t>
            </a:r>
          </a:p>
          <a:p>
            <a:r>
              <a:t>파일 하나당 4:3 카드 하나. 작성자·시각·설명·영상 길이를 표시한다.</a:t>
            </a:r>
          </a:p>
          <a:p>
            <a:r>
              <a:t>데모 최신순은 게시물 시각 기준이며 제품의 촬영 시각 기준 오름차순과 차이가 있다.</a:t>
            </a:r>
          </a:p>
          <a:p>
            <a:r>
              <a:t>제품 구현 계약(데모에서 미구현 가능):</a:t>
            </a:r>
          </a:p>
          <a:p>
            <a:r>
              <a:t>① 현재 사용자가 볼 수 있는 완료 파일만 집계한다. 차단·운영 제한·삭제·만료를 제외한다. 사람별 묶음은 작성자 구역(먼저 완료한 작성자부터)·접기/펼치기, 시간순은 촬영 시각 기준이다.</a:t>
            </a:r>
          </a:p>
          <a:p>
            <a:r>
              <a:t>② 작성자별 이 방문의 한도(사진 5·영상 2)에서 완료+진행 중 작업을 뺀 남은 수. 0이면 올리기 버튼에 사유를 표시한다.</a:t>
            </a:r>
          </a:p>
          <a:p>
            <a:r>
              <a:t>올리기 → UI14. UI16에서 방문일을 제안하고 사용자가 확인한다. 다른 날짜로 바꾸면 방문을 해제·재선택한다.</a:t>
            </a:r>
          </a:p>
          <a:p>
            <a:r>
              <a:t>상태: 기록 없음 / 파일 검사 중 / 장소 좌표 없음 / 남은 개수 0 / 방문 삭제 충돌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S02 → 작은책방 하루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기록 없음 안내와 올리기 버튼을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S04 → 사진·동영상 올리기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빈 선택 목록·추가 타일·업로드하기. 선택 0개이면 제출 비활성.</a:t>
            </a:r>
          </a:p>
          <a:p>
            <a:r>
              <a:t>화면의 최대 10개는 데모 값이다. 제품 계약의 방문별 사진5/영상2·다중선택120과 구분한다.</a:t>
            </a:r>
          </a:p>
          <a:p>
            <a:r>
              <a:t>실제 업로드는 팀원 연결 지점이며 서버 저장 완료를 뜻하지 않는다.</a:t>
            </a:r>
          </a:p>
          <a:p>
            <a:r>
              <a:t>제품 구현 계약(데모에서 미구현 가능):</a:t>
            </a:r>
          </a:p>
          <a:p>
            <a:r>
              <a:t>① Photo Picker 우선, 불가 시 문서 선택기. 전체 앨범 권한을 강제하지 않는다.</a:t>
            </a:r>
          </a:p>
          <a:p>
            <a:r>
              <a:t>②·③ 카메라 권한을 필요한 시점에 요청한다. 취소 일정이면 진입 전 신규 작업을 막는다.</a:t>
            </a:r>
          </a:p>
          <a:p>
            <a:r>
              <a:t>촬영·기기 파일 혼합 후보를 같은 제출에 넣고 최초 선택 순서를 유지한다.</a:t>
            </a:r>
          </a:p>
          <a:p>
            <a:r>
              <a:t>상태: 선택 취소 / 121번째 후보 / 권한 거절 / 파일 접근 소실 / 클라우드 다운로드 실패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M2 → 추가 타일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사진 촬영·동영상 촬영·앨범 선택 연결. OS 선택기 자체는 이 캡처에 포함하지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후면 기본. 영상 최대1080p/30fps, 미지원720p. 촬영 전만 전후면 전환 가능하다.</a:t>
            </a:r>
          </a:p>
          <a:p>
            <a:r>
              <a:t>② 기본3초, 기기 마지막 정수1~5초 기억. 자동 종료 ±0.25초, 조기 종료는 0.5초 이상.</a:t>
            </a:r>
          </a:p>
          <a:p>
            <a:r>
              <a:t>③ 마이크 거절이어도 무음 촬영 허용. ④ 녹화 중 정지 버튼. 결과 확인·재촬영·사용, 앱 전환/전화 뒤 유효성 확인.</a:t>
            </a:r>
          </a:p>
          <a:p>
            <a:r>
              <a:t>카메라 거절 / 녹화 중 / 결과 확인 / 0.5초 미만 / 저장공간 부족 / 권한 회수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업로드 전 후보 선택과 기존 기록의 다중 선택이 같은 화면이다(이전 UI19 통합). 길게 누르기 또는 선택 버튼으로 진입하며 최대120개, 불러오지 않은 파일은 자동 선택하지 않는다. 묶음 전체 선택을 지원한다.</a:t>
            </a:r>
          </a:p>
          <a:p>
            <a:r>
              <a:t>③~⑤ 업로드 맥락: 파일별 기록일(일정 범위 안, 단일일 자동·다일은 오늘/시작일 제안)·방문(방문일=기록일, 미지정 허용)·설명 1000자. 선택한 파일에 기록일·방문을 일괄 지정할 수 있다. 방문별 남은 개수를 보여 주고 초과 파일은 제출 전에 표시하며 서버가 파일별로 거부한다.</a:t>
            </a:r>
          </a:p>
          <a:p>
            <a:r>
              <a:t>⑥ 기존 기록 맥락: 저장은 조회 가능한 타인 파일도 가능, 수정은 같은 일정 본인 파일만(UI20), 삭제는 본인만. 타인 혼합이면 수정/삭제 비활성 이유를 표시하고 서버도 거부한다. 본인 보존 경로(UI22)는 삭제만 제공한다.</a:t>
            </a:r>
          </a:p>
          <a:p>
            <a:r>
              <a:t>사진50MB·100MP / 영상200MB·60초 / 0개·121개 / 방문일 불일치 / 사진5·영상2 초과 / 타인 혼합 / 선택 중 파일 삭제·만료 / 기한 경과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완료 파일만 공동 목록 반영. ② 전송100%는 완료가 아니다. 검토 대기는 비공개다.</a:t>
            </a:r>
          </a:p>
          <a:p>
            <a:r>
              <a:t>③ 파일별1·2·4초 최대3회 자동 재시도. 오프라인 대기는 횟수 미소모, 동시3개.</a:t>
            </a:r>
          </a:p>
          <a:p>
            <a:r>
              <a:t>취소 이전 서버 접수한 같은 파일은 일정 취소 후에도 재시도 가능. 권한 소멸·종료·만료·사용자 취소가 우선한다.</a:t>
            </a:r>
          </a:p>
          <a:p>
            <a:r>
              <a:t>준비·대기 / 전송 / 서버 확인 / 검토 / 완료 / 실패 / 취소 / 결과 확인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S04 → 도윤 사진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전체 화면 사진·확대/축소·닫기. 버튼과 두 번 탭 확대를 제공한다.</a:t>
            </a:r>
          </a:p>
          <a:p>
            <a:r>
              <a:t>저장·다중 선택·신고/차단 등 제품 기능은 이 데모 뷰어에 구현되어 있지 않다.</a:t>
            </a:r>
          </a:p>
          <a:p>
            <a:r>
              <a:t>제품 구현 계약(데모에서 미구현 가능):</a:t>
            </a:r>
          </a:p>
          <a:p>
            <a:r>
              <a:t>① 닫으면 영상·소리를 중단하고 목록 위치를 복원한다. ② 촬영 시각이 없으면 업로드 시각만 표시한다.</a:t>
            </a:r>
          </a:p>
          <a:p>
            <a:r>
              <a:t>③ 현재 참여 중이며 조회 가능한 파일만 저장. 다른 앱 공유 버튼은 없다. 나간 뒤 본인 경로는 열람·삭제만 허용한다.</a:t>
            </a:r>
          </a:p>
          <a:p>
            <a:r>
              <a:t>④ 수정은 현재 참여 중 본인 파일만, 삭제는 본인만. 방장도 타인 파일 수정·삭제 불가. 타인 신고·차단은 UI31로 연결한다.</a:t>
            </a:r>
          </a:p>
          <a:p>
            <a:r>
              <a:t>상태: 재생 통신·형식 오류 / 만료 / 삭제 / 퇴장 / 운영 제한 / 보존 경로에서는 저장 숨김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S04 → 도윤 동영상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번들 예시 동영상과 재생 컨트롤. 웹 렌더링 캡처이며 Android 재생 검수 결과와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 필드별 적용/유지, 빈 문자열·방문 해제는 명시적 동작이다. 날짜 변경으로 기존 방문이 안 맞으면 해제·재선택한다.</a:t>
            </a:r>
          </a:p>
          <a:p>
            <a:r>
              <a:t>③ 본인·같은 모임/일정·120개·버전·대상 방문의 사진5/영상2 한도 검증. 설명 검사 중에는 기존 공개 내용을 유지한다.</a:t>
            </a:r>
          </a:p>
          <a:p>
            <a:r>
              <a:t>④ 검사를 통과한 뒤 재검증하여 전체 원자 적용. 하나라도 오류면 전체 미적용과 대상별 이유·입력을 유지한다.</a:t>
            </a:r>
          </a:p>
          <a:p>
            <a:r>
              <a:t>필드 미선택 / 다른 일정 혼입 / 대상 방문 한도 초과 / 검사 중·거부 / 버전 충돌 / 일부 적용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원래 해상도의 위치 제거 저장본 우선. 지원 불가 시 호환본과 변환 여부 안내. UI16 선택 모드 또는 UI18에서 진입한다.</a:t>
            </a:r>
          </a:p>
          <a:p>
            <a:r>
              <a:t>③ 내려받기와 기기 쓰기를 구분하고 성공 뒤 경로 표시. 부분 성공이면 실패만 재시도한다. 임시 파일은 기기 쓰기 후 정리한다.</a:t>
            </a:r>
          </a:p>
          <a:p>
            <a:r>
              <a:t>④ OS 공유창·외부 앱 전달은 1차 범위에서 제거했다(2026-10-20 회의). 저장 요청은 purpose=save만 허용한다.</a:t>
            </a:r>
          </a:p>
          <a:p>
            <a:r>
              <a:t>준비 / 다운로드 / 기기 쓰기 / 부분 실패 / 공간 부족 / 권한 변경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활성 참여·빈자리·초대를 요구하지 않는다. 종료 모임의 본인 보존 파일도 최소 정보와 함께 표시한다.</a:t>
            </a:r>
          </a:p>
          <a:p>
            <a:r>
              <a:t>② 타인 파일·공동 계획·참여자 목록을 노출하지 않는다. 본인 확대/재생/삭제만 가능하다.</a:t>
            </a:r>
          </a:p>
          <a:p>
            <a:r>
              <a:t>삭제는 최대120개·다른 모임 혼합 허용. 사전 권한 오류는 전체 거부, 실행 결과는 파일별 성공·실패·이미삭제로 표시한다.</a:t>
            </a:r>
          </a:p>
          <a:p>
            <a:r>
              <a:t>참여 중·종료 / 만료 상태30일·설명 숨김 / 파일별 삭제 실패 / 이미 삭제 멱등 성공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현재 참여자가 같은 모임의 초대를 조회·발급·공유·복사·취소한다. 발급자 본인 여부는 관리 권한의 기준이 아니다. 참여 종료·모임 종료·이용 제한은 서버가 재검증한다.</a:t>
            </a:r>
          </a:p>
          <a:p>
            <a:r>
              <a:t>코드 길이8자는 기술 설계안이며 기능명세의 고정 정책이 아니다. 만료는 서버 발급시각+168시간, 확인 횟수는 서버가 그 초대로 미리보기를 응답한 수이며 50회에 소진된다.</a:t>
            </a:r>
          </a:p>
          <a:p>
            <a:r>
              <a:t>② 모임명·요약·링크·코드만 공유. 공유 취소는 초대 취소가 아니다. 상태는 사용 가능·소진·만료·취소로 구분한다.</a:t>
            </a:r>
          </a:p>
          <a:p>
            <a:r>
              <a:t>④ 새 발급은 기존 초대를 유지하고 횟수는 0부터 시작한다. 같은 요청 재시도는 동일 초대. 참여 확정은 횟수를 소모하지 않으며 소진·취소는 기존 참여자에게 영향이 없다.</a:t>
            </a:r>
          </a:p>
          <a:p>
            <a:r>
              <a:t>발급 실패·결과 불명 / 취소·만료·소진 / 정원10명 / 일반 참여자 동일 권한 / 비참여·탈퇴·퇴장·이용 제한 거부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 비로그인 미리보기는 모임명·일정 요약만 공개한다. 대표 사진·참여자·기록·장소 목록은 공개하지 않는다.</a:t>
            </a:r>
          </a:p>
          <a:p>
            <a:r>
              <a:t>③ 인증/가입 뒤 같은 초대 확인으로 복귀한다. 로그인 성공만으로 자동 참여시키지 않는다. 복귀 시 앱이 보관한 확인 결과를 쓰고 확인 횟수를 추가하지 않는다.</a:t>
            </a:r>
          </a:p>
          <a:p>
            <a:r>
              <a:t>④ 확정 시 유효성·정원·차단·활성100모임·이용제한을 재검증한다. 이미 참여했으면 인원 증가 없이 UI05로 이동한다.</a:t>
            </a:r>
          </a:p>
          <a:p>
            <a:r>
              <a:t>잘못된 코드 / 로그인 전·후 / 만료 / 소진(50회) / 취소 / 정원 초과 / 차단 / 종료 모임 / 이미 참여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사진 한 장 선택·미리보기·교체. 일반 기록 파일에 대표사진 한도를 적용하지 않는다.</a:t>
            </a:r>
          </a:p>
          <a:p>
            <a:r>
              <a:t>② 공백만 금지·50자. 최신 버전과 현재 방장 확인. 새 초대 정보에 변경 이름을 반영한다.</a:t>
            </a:r>
          </a:p>
          <a:p>
            <a:r>
              <a:t>③ 취소·변환·전송·검사 실패·동시 충돌 시 기존 공개 정보와 입력을 유지한다.</a:t>
            </a:r>
          </a:p>
          <a:p>
            <a:r>
              <a:t>기본 이미지 / 사진 선택·검사 중 / 검사 거부 / 버전 충돌 / 일반 참여자 거부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목록에는 표시명·방장 표시만 제공한다. 소셜 식별값·연락처는 표시하지 않는다.</a:t>
            </a:r>
          </a:p>
          <a:p>
            <a:r>
              <a:t>① 방장은 타인 퇴장과 모임별 재참여 차단을 함께 처리한다. 완료 파일과 본인 조회/삭제 권한은 유지한다.</a:t>
            </a:r>
          </a:p>
          <a:p>
            <a:r>
              <a:t>② 즉시 이전이며 수락 대기 없음. ③ 방장만 차단 해제, 해제는 자동 재가입이 아니다. 개인 차단은 별도 UI31이다.</a:t>
            </a:r>
          </a:p>
          <a:p>
            <a:r>
              <a:t>일반 참여자는 이전·퇴장 버튼 없음 / 대상이 나감 / 이전 충돌 / 오래된 퇴장 재시도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 다른 참여자가 있으면 방장 이전 성공을 먼저 확인한다. 방장인 채 나가기는 거부한다.</a:t>
            </a:r>
          </a:p>
          <a:p>
            <a:r>
              <a:t>③ 마지막1명일 때만 종료. 타인 유효 파일은 기한까지 본인 조회/삭제용 보존한다. 모임은 재개 불가다.</a:t>
            </a:r>
          </a:p>
          <a:p>
            <a:r>
              <a:t>④ 새 참여·역할 이전과 직렬화하여 종료 가능 여부를 재검증한다. 파일·계정 삭제 우선 규칙을 적용한다.</a:t>
            </a:r>
          </a:p>
          <a:p>
            <a:r>
              <a:t>일반 나가기 / 방장 후임 필요 / 마지막 방장 / 동시 참여로 종료 거부 / 정리 실패 추적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표시명 변경은 작성자 표시에도 반영하되 소유ID는 유지한다. 사진 프로필 설정은 없다.</a:t>
            </a:r>
          </a:p>
          <a:p>
            <a:r>
              <a:t>② 문서버전·선택시각·변경·철회를 조회한다. 선택 동의는 변경 가능, 필수 철회는 계정 삭제로 연결한다.</a:t>
            </a:r>
          </a:p>
          <a:p>
            <a:r>
              <a:t>④ 진행 업로드가 있으면 작업확인/중단 후 로그아웃/돌아가기. 실제 공개 문의 연락처는 배포 전에 설정한다.</a:t>
            </a:r>
          </a:p>
          <a:p>
            <a:r>
              <a:t>문의 식별값 / 세션 만료 / 업로드 중 로그아웃 / 다른 계정 캐시 분리 / 필수 재동의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 본인 재인증과 새 공급자 인증 둘 다 필요. 공급자 subject가 다른 앱 계정 소유이면 거부한다.</a:t>
            </a:r>
          </a:p>
          <a:p>
            <a:r>
              <a:t>③ 세션 소유자와 최근 재인증을 확인하고 명시적 연결만 수행한다. 기존 두 계정 데이터 병합은 없다.</a:t>
            </a:r>
          </a:p>
          <a:p>
            <a:r>
              <a:t>마지막 로그인 수단 해제는 거부한다. 공급자 토큰·비밀값을 화면과 로그에 노출하지 않는다.</a:t>
            </a:r>
          </a:p>
          <a:p>
            <a:r>
              <a:t>연결 성공 / 다른 계정 사용 중 / 마지막 수단 해제 거부 / 재인증 만료 / 사용자 취소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방장 역할 정리가 하나라도 남으면 서버에서 거부한다. 자동 후임 선임은 하지 않는다.</a:t>
            </a:r>
          </a:p>
          <a:p>
            <a:r>
              <a:t>② 조회 목록이 아닌 작성자ID로 전체 파일을 찾고 계정 접근·업로드·완료부터 차단한다.</a:t>
            </a:r>
          </a:p>
          <a:p>
            <a:r>
              <a:t>③ 삭제 직전 역할 수신/신규 모임을 다시 검증한다. 조회 차단과 물리정리 진행 상태를 분리한다.</a:t>
            </a:r>
          </a:p>
          <a:p>
            <a:r>
              <a:t>역할 정리 필요 / 재인증 / 동시 역할 수신 / 삭제 접수·정리 중 / 결과 불명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파일·대표 사진·참여자를 신고하며 사유2000자와 최소 증거를 연결한다.</a:t>
            </a:r>
          </a:p>
          <a:p>
            <a:r>
              <a:t>② 신고만으로 자동 삭제하지 않는다. 최초24시간, 이의3영업일 검토 기준을 적용한다.</a:t>
            </a:r>
          </a:p>
          <a:p>
            <a:r>
              <a:t>③ 개인 차단은 내 공동 목록·집계·저장/공유·직접경로에만 적용한다. 방장 역할·타인 화면·기한을 바꾸지 않는다.</a:t>
            </a:r>
          </a:p>
          <a:p>
            <a:r>
              <a:t>신고 중복 / 검토·조치·미조치 / 차단·해제 / 서비스 제한 중 문의·삭제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④ 접수만으로 역할 변경하지 않는다. 요청자 재인증·참여이력·후임 의사·부재 근거를 확인한다.</a:t>
            </a:r>
          </a:p>
          <a:p>
            <a:r>
              <a:t>③ 앱 내 계정 알림과 동의한 보조 연락수단에 통지한다. 7일 경과만으로 자동 승인하지 않는다.</a:t>
            </a:r>
          </a:p>
          <a:p>
            <a:r>
              <a:t>운영자가 실행 직전 현재 방장·후임·모임상태·버전을 확인한다. 종료 모임 재개 불가, 분쟁/증거부족은 보류한다.</a:t>
            </a:r>
          </a:p>
          <a:p>
            <a:r>
              <a:t>자료 부족 / 통지·응답 대기 / 이의·보류 / 직접 이전으로 오래된 승인 무효 / 승인·거절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완료 원본 바이트+예약으로 접수 검증. 5GB=5,000,000,000바이트, 파생본 사용량은 운영용 별도다.</a:t>
            </a:r>
          </a:p>
          <a:p>
            <a:r>
              <a:t>② LRU500MB. ③ 유일 업로드 원본·설명·보류 작업은 캐시 정리에서 제외한다.</a:t>
            </a:r>
          </a:p>
          <a:p>
            <a:r>
              <a:t>④ 캐시 삭제는 서버 기록 삭제가 아니다. 저장용 임시 파일은 기기 쓰기 완료 후 정리한다.</a:t>
            </a:r>
          </a:p>
          <a:p>
            <a:r>
              <a:t>공간 조회 실패 / 한도 도달 / 정리 중·실패 / 원본 정리 대기 / 로그아웃 계정별 분리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전용 웹 화면의 모바일 폭 축약 와이어프레임이다. 실제 운영 화면은 목록+상세 2열로 구현한다.</a:t>
            </a:r>
          </a:p>
          <a:p>
            <a:r>
              <a:t>③ 일반 방장과 분리한 운영 권한·사유·처리자·시각 감사이력을 남긴다. 검사 장애는 비공개 수동 검토로 보낸다.</a:t>
            </a:r>
          </a:p>
          <a:p>
            <a:r>
              <a:t>⑤ 복구는 통지·7일 대기·후임 동의·수동 결정 후 버전을 재검증한다. 증거 암호화·종료 후90일 이내 정리.</a:t>
            </a:r>
          </a:p>
          <a:p>
            <a:r>
              <a:t>운영 로그인 실패 / 권한 부족 / 동시 조치 / SLA 초과 / 복구 이견·종료 / 감사 저장 실패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응답 유실과 확정 실패를 구분한다. 업무 요청ID/멱등키로 기존 결과를 확인한다.</a:t>
            </a:r>
          </a:p>
          <a:p>
            <a:r>
              <a:t>③ 버전 충돌 시 자동 덮어쓰지 않고 내 입력·최신 값·재적용·취소를 제공한다.</a:t>
            </a:r>
          </a:p>
          <a:p>
            <a:r>
              <a:t>오프라인은 신규 조회/쓰기 제한과 재시도, 권한상실은 공동화면 종료 후 본인 기록 경로 유지. 내부 경로·토큰은 노출하지 않는다.</a:t>
            </a:r>
          </a:p>
          <a:p>
            <a:r>
              <a:t>로딩 / 실제 빈 결과 / 조회 실패 / 오프라인 / 충돌 / 결과 불명 / 권한 상실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실행경로: /prototype 진입</a:t>
            </a:r>
          </a:p>
          <a:p>
            <a:r>
              <a:t>브랜치: feature/ui-prototype</a:t>
            </a:r>
          </a:p>
          <a:p>
            <a:r>
              <a:t>커밋: 99ab363734236c16e3e16e6d8b7987cf1fced425</a:t>
            </a:r>
          </a:p>
          <a:p>
            <a:r>
              <a:t>데모 전용 진입 화면. 서비스의 내 모임(UI03)과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At that place · UI 설계 · 프로토타입 화면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feature/ui-prototype @ 99ab363 · 2026-10-26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91F28"/>
                </a:solidFill>
                <a:latin typeface="Noto Sans CJK KR"/>
              </a:defRPr>
            </a:pPr>
            <a:r>
              <a:t>일정 요약에서 장소별 기록까지</a:t>
            </a:r>
          </a:p>
          <a:p>
            <a:pPr>
              <a:spcAft>
                <a:spcPts val="500"/>
              </a:spcAft>
              <a:defRPr sz="3200" b="1">
                <a:solidFill>
                  <a:srgbClr val="191F28"/>
                </a:solidFill>
                <a:latin typeface="Noto Sans CJK KR"/>
              </a:defRPr>
            </a:pPr>
            <a:r>
              <a:t>브랜치 화면을 설계 기준으로 반영합니다.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8503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원격 브랜치: feature/ui-prototype</a:t>
            </a:r>
          </a:p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기준 커밋: 99ab363734236c16e3e16e6d8b7987cf1fced425</a:t>
            </a:r>
          </a:p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실행 캡처 19개 · 기존 UI ID 33개 유지</a:t>
            </a:r>
          </a:p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7개 대응 화면은 캡처로 교체하고 관련 상태 12개를 추가했습니다.</a:t>
            </a:r>
          </a:p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그 외 26개 화면은 기존 명세 기반 설계안으로 유지합니다.</a:t>
            </a:r>
          </a:p>
          <a:p>
            <a:pPr>
              <a:spcAft>
                <a:spcPts val="500"/>
              </a:spcAft>
              <a:defRPr sz="1900" b="0">
                <a:solidFill>
                  <a:srgbClr val="191F28"/>
                </a:solidFill>
                <a:latin typeface="Noto Sans CJK KR"/>
              </a:defRPr>
            </a:pPr>
            <a:r>
              <a:t>캡처 이미지는 원본 그대로이며 설명·계약 텍스트는 편집 가능합니다.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8433F"/>
                </a:solidFill>
                <a:latin typeface="Noto Sans CJK KR"/>
              </a:defRPr>
            </a:pPr>
            <a:r>
              <a:t>제품 정책: 기능명세서 v2.1 · 시스템/API/DB 설계 v0.3.1</a:t>
            </a:r>
          </a:p>
          <a:p>
            <a:pPr>
              <a:spcAft>
                <a:spcPts val="500"/>
              </a:spcAft>
              <a:defRPr sz="1700" b="1">
                <a:solidFill>
                  <a:srgbClr val="B8433F"/>
                </a:solidFill>
                <a:latin typeface="Noto Sans CJK KR"/>
              </a:defRPr>
            </a:pPr>
            <a:r>
              <a:t>화면 변경과 서비스 구현·검수 완료를 구분합니다.</a:t>
            </a:r>
          </a:p>
        </p:txBody>
      </p:sp>
      <p:pic>
        <p:nvPicPr>
          <p:cNvPr id="8" name="Picture 7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005840"/>
            <a:ext cx="3042222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화면 흐름과 원본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S 번호와 설계 UI 번호를 함께 표기 · 2026-10-26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3258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91F28"/>
                </a:solidFill>
                <a:latin typeface="Noto Sans CJK KR"/>
              </a:defRPr>
            </a:pPr>
            <a:r>
              <a:t>S0 데모 선택 → S01 일정 요약(UI08) → S02 날짜별 장소(UI08 상세)</a:t>
            </a:r>
          </a:p>
          <a:p>
            <a:pPr>
              <a:spcAft>
                <a:spcPts val="500"/>
              </a:spcAft>
              <a:defRPr sz="2300" b="0">
                <a:solidFill>
                  <a:srgbClr val="191F28"/>
                </a:solidFill>
                <a:latin typeface="Noto Sans CJK KR"/>
              </a:defRPr>
            </a:pPr>
            <a:r>
              <a:t>S02 → S03 장소 추가(UI10) / S05 순서 편집(UI12) / M1 방문 시간</a:t>
            </a:r>
          </a:p>
          <a:p>
            <a:pPr>
              <a:spcAft>
                <a:spcPts val="500"/>
              </a:spcAft>
              <a:defRPr sz="2300" b="0">
                <a:solidFill>
                  <a:srgbClr val="191F28"/>
                </a:solidFill>
                <a:latin typeface="Noto Sans CJK KR"/>
              </a:defRPr>
            </a:pPr>
            <a:r>
              <a:t>S02 → S04 장소 기록(UI13) → 사진별·사람별(UI09) → V1 감상(UI18)</a:t>
            </a:r>
          </a:p>
          <a:p>
            <a:pPr>
              <a:spcAft>
                <a:spcPts val="500"/>
              </a:spcAft>
              <a:defRPr sz="2300" b="0">
                <a:solidFill>
                  <a:srgbClr val="191F28"/>
                </a:solidFill>
                <a:latin typeface="Noto Sans CJK KR"/>
              </a:defRPr>
            </a:pPr>
            <a:r>
              <a:t>S04 → M2 기록 추가(UI14) → M3 촬영·앨범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3258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91F28"/>
                </a:solidFill>
                <a:latin typeface="Noto Sans CJK KR"/>
              </a:defRPr>
            </a:pPr>
            <a:r>
              <a:t>화면 원본: src/prototype/screens/*.tsx · 관련 시트/팝업: components/ 및 src/demo/</a:t>
            </a:r>
          </a:p>
          <a:p>
            <a:pPr>
              <a:spcAft>
                <a:spcPts val="500"/>
              </a:spcAft>
              <a:defRPr sz="2000" b="0">
                <a:solidFill>
                  <a:srgbClr val="191F28"/>
                </a:solidFill>
                <a:latin typeface="Noto Sans CJK KR"/>
              </a:defRPr>
            </a:pPr>
            <a:r>
              <a:t>UI/프로토타입/출처.json: 커밋·소스 해시·화면별 실행 경로·캡처 해시</a:t>
            </a:r>
          </a:p>
          <a:p>
            <a:pPr>
              <a:spcAft>
                <a:spcPts val="500"/>
              </a:spcAft>
              <a:defRPr sz="2000" b="0">
                <a:solidFill>
                  <a:srgbClr val="191F28"/>
                </a:solidFill>
                <a:latin typeface="Noto Sans CJK KR"/>
              </a:defRPr>
            </a:pPr>
            <a:r>
              <a:t>UI/프로토타입/demo-app-spec.txt · feature-spec.txt: 해당 커밋의 화면 명세 사본</a:t>
            </a:r>
          </a:p>
          <a:p>
            <a:pPr>
              <a:spcAft>
                <a:spcPts val="500"/>
              </a:spcAft>
              <a:defRPr sz="2000" b="0">
                <a:solidFill>
                  <a:srgbClr val="191F28"/>
                </a:solidFill>
                <a:latin typeface="Noto Sans CJK KR"/>
              </a:defRPr>
            </a:pPr>
            <a:r>
              <a:t>재생성은 저장된 캡처를 사용하며 원격 브랜치·Expo 실행이 필요하지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3075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8433F"/>
                </a:solidFill>
                <a:latin typeface="Noto Sans CJK KR"/>
              </a:defRPr>
            </a:pPr>
            <a:r>
              <a:t>UI09 캡처는 한 방문의 사람별 보기입니다. 일정 전체·미지정·기간 밖 조회는 제품 계약으로 남습니다.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화면과 제품 계약의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화면을 반영하면서 기존 정책을 임의로 바꾸지 않습니다. · 2026-10-26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날짜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14300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S01 마지막 날 다음 날짜 추가·최대30일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430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UI06 새 일정 생성과 구분·제품 기간 최대366일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메모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4884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S05 장소 메모 입력100자 남음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날짜 공통 메모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방문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1546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M1 휠·1분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546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기존 제품 설계의5분 단위와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기록 정렬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160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게시물 시각 최신순·보기 전환은 진입마다 초기화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촬영 시각 오름차순·보기 방식 기기 기억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663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파일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16636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M2 최대10개·실제 업로드 연결 지점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1663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방문당 작성자 사진5/영상2·다중선택 최대120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72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8433F"/>
                </a:solidFill>
                <a:latin typeface="Noto Sans CJK KR"/>
              </a:defRPr>
            </a:pPr>
            <a:r>
              <a:t>서버·권한·기한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617220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예시 데이터·로컬 저장·예시 지도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1722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91F28"/>
                </a:solidFill>
                <a:latin typeface="Noto Sans CJK KR"/>
              </a:defRPr>
            </a:pPr>
            <a:r>
              <a:t>권한·한도·검사·보관·버전·실패 복구 별도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26948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8"/>
                </a:solidFill>
                <a:latin typeface="Noto Sans CJK KR"/>
              </a:defRPr>
            </a:pPr>
            <a:r>
              <a:t>이 자료의 캡처는 웹 실행 결과입니다. Android APK·실서비스·외부 연동 검수 결과로 해석하지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UI01  시작과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시작과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782" b="1">
                <a:solidFill>
                  <a:srgbClr val="B8433F"/>
                </a:solidFill>
                <a:latin typeface="Noto Sans CJK KR"/>
              </a:defRPr>
            </a:pPr>
            <a:r>
              <a:t>At that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11" y="2521633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함께한 순간을</a:t>
            </a:r>
          </a:p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한곳에 모아요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511" y="3161854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모임의 일정별로 사진과 영상을 함께 보관해요.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59907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73024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191F28"/>
                </a:solidFill>
                <a:latin typeface="Noto Sans CJK KR"/>
              </a:defRPr>
            </a:pPr>
            <a:r>
              <a:t>① 카카오로 시작하기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411437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424554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② Google로 시작하기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11" y="4629677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이용약관  ·  개인정보처리방침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카카오톡 이용 불가 시 카카오계정 웹 인증으로 전환한다.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공급자 식별값으로 로그인하며 이메일로 계정을 합치지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초대 진입 경로와 미완료 작업을 보존한다. 신규 가입이면 UI02, 기존이면 UI03 또는 UI24로 이동한다.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세션 복원 중에는 스플래시 유지 / 인증 취소는 이전 상태 / 오프라인·인증 실패·서비스 장애를 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authExchange, sessionRefresh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UI02  가입 동의와 표시명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가입 동의와 표시명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처음 오셨네요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11" y="247478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문서를 읽고 필요한 항목에 동의해 주세요.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91201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304317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[ ] 이용약관 동의   필수  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427311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55847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[ ] 개인정보 안내   필수  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3942611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073778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[ ] 선택 항목 동의  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457911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620308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표시명  |  지민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11" y="5035671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중복 표시명도 사용할 수 있어요. 최대 20자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547289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560406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동의하고 시작하기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최초 가입자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항목별 문서와 버전을 열람한다. 실제 동의 항목·문구는 운영 문서 확정 후 적용한다.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NFC 정규화와 앞뒤 공백 제거 후 사용자 인식 문자 1~20자. 소셜 이름은 제안값이다.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필수 미동의 시 제출 비활성, 선택 거부로 가입을 막지 않는다. 사진 프로필 입력은 제공하지 않는다.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필수 미선택 / 표시명 공백·21자 / 문서 로딩 실패 / 검사 중·거부 / 초대 복귀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onboard, consentDocs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UI03  내 모임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내 모임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함께하는 모임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11" y="247478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① 최근 공동 활동순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912012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3057233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주말 산책 모임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6/10명 · 진행 중: 우리의 서울 여행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630308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705261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보관 안내  ·  만료 7일 전 기록이</a:t>
            </a:r>
          </a:p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있어요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20806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353289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대학 동기 모임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4/10명 · 다음 일정: 성수 당일치기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92636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505753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③ 모임 만들기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544166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557283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④ 초대 코드로 참여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511" y="5956964"/>
            <a:ext cx="2732649" cy="390378"/>
          </a:xfrm>
          <a:prstGeom prst="roundRect">
            <a:avLst>
              <a:gd name="adj" fmla="val 24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817" y="6064708"/>
            <a:ext cx="2514037" cy="343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모임  |  내 기록  |  설정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로그인한 사용자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열람은 활동 시각을 갱신하지 않는다. 동률은 생성시각·ID 역순이다.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카드 → UI05 모임 달력. 일정 요약은 진행 중→가까운 미래→최근 과거이며 취소는 제외한다.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첫 일정을 포함해 UI04에서 생성. ④ UI24 코드 입력. 종료한 모임은 공동 상세로 열지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로딩 / 모임 없음과 조회 실패 구분 / 30개 커서 / 활성 100개·방장 생성 20개 한도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groupsList, groupCreate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UI04  모임과 첫 일정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모임과 첫 일정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9696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모임 이름  |  주말 산책 모임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41232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57472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첫 일정 제목  |  우리의 서울 여행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299008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15248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시작 날짜  2026.10.17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3567848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373024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종료 날짜  2026.10.19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11" y="414560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④ 시간은 장소를 추가할 때 입력해요.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반복 설정은 없어요. 필요하면 일정을 더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추가해요.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11" y="4582832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한국 시간 · 최대 10명 · 정원 변경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502005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5151223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⑤ 모임과 첫 일정 만들기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로그인한 사용자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모임 이름 1~50자, ② 일정 제목 1~100자. 공개 전 텍스트 검사를 수행한다.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날짜만 입력한다(종일/시간 지정 없음). 종료 날짜 포함 366일 이내, 과거 날짜 허용. ④ 예정 시각은 UI10/UI11에서 방문별로 입력하고 UI08에 표시한다.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⑤ 모임·방장 참여·첫 일정은 하나의 트랜잭션으로 생성한다. 재시도에는 같은 요청 키를 사용한다.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필수 누락 / 날짜 역전·367일 / 검사 대기 / 결과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groupCreate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UI05  모임 달력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모임 달력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50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주말 산책 모임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61684"/>
            <a:ext cx="2732649" cy="428274"/>
          </a:xfrm>
          <a:prstGeom prst="roundRect">
            <a:avLst>
              <a:gd name="adj" fmla="val 21876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00932"/>
            <a:ext cx="2514037" cy="38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&lt;   2026년 10월   &gt;   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오늘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2966437"/>
            <a:ext cx="2732649" cy="1804872"/>
          </a:xfrm>
          <a:prstGeom prst="roundRect">
            <a:avLst>
              <a:gd name="adj" fmla="val 6921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71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7735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498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7261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2025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6788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1551" y="3028897"/>
            <a:ext cx="359148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37" b="0">
                <a:solidFill>
                  <a:srgbClr val="4E5968"/>
                </a:solidFill>
                <a:latin typeface="Noto Sans CJK KR"/>
              </a:defRPr>
            </a:pPr>
            <a:r>
              <a:t>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7261" y="3231894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2025" y="3231894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6788" y="3231894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1551" y="3231894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71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735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2498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7261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12025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6788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1551" y="3481736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71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7735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2498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7261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12025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86788" y="3731578"/>
            <a:ext cx="343533" cy="226419"/>
          </a:xfrm>
          <a:prstGeom prst="roundRect">
            <a:avLst>
              <a:gd name="adj" fmla="val 20689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86788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B8433F"/>
                </a:solidFill>
                <a:latin typeface="Noto Sans CJK KR"/>
              </a:defRPr>
            </a:pPr>
            <a:r>
              <a:t>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1551" y="3731578"/>
            <a:ext cx="343533" cy="226419"/>
          </a:xfrm>
          <a:prstGeom prst="roundRect">
            <a:avLst>
              <a:gd name="adj" fmla="val 20689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1551" y="3731578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B8433F"/>
                </a:solidFill>
                <a:latin typeface="Noto Sans CJK KR"/>
              </a:defRPr>
            </a:pPr>
            <a:r>
              <a:t>18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971" y="3981421"/>
            <a:ext cx="343533" cy="226419"/>
          </a:xfrm>
          <a:prstGeom prst="roundRect">
            <a:avLst>
              <a:gd name="adj" fmla="val 20689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971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B8433F"/>
                </a:solidFill>
                <a:latin typeface="Noto Sans CJK KR"/>
              </a:defRPr>
            </a:pPr>
            <a: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735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2498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7261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2025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86788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1551" y="3981421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971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7735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62498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37261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2025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86788" y="4231263"/>
            <a:ext cx="343533" cy="202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799" b="0">
                <a:solidFill>
                  <a:srgbClr val="191F28"/>
                </a:solidFill>
                <a:latin typeface="Noto Sans CJK KR"/>
              </a:defRPr>
            </a:pPr>
            <a:r>
              <a:t>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202" y="4537082"/>
            <a:ext cx="2545267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B8433F"/>
                </a:solidFill>
                <a:latin typeface="Noto Sans CJK KR"/>
              </a:defRPr>
            </a:pPr>
            <a:r>
              <a:t>17  우리의 서울 여행  ·  +2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511" y="4847787"/>
            <a:ext cx="2732649" cy="428274"/>
          </a:xfrm>
          <a:prstGeom prst="roundRect">
            <a:avLst>
              <a:gd name="adj" fmla="val 21876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817" y="4974479"/>
            <a:ext cx="2514037" cy="38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10월 17일 일정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511" y="5352539"/>
            <a:ext cx="2732649" cy="627116"/>
          </a:xfrm>
          <a:prstGeom prst="roundRect">
            <a:avLst>
              <a:gd name="adj" fmla="val 14939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817" y="5491208"/>
            <a:ext cx="2514037" cy="580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우리의 서울 여행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10.17–10.19 · 장소 3곳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0511" y="6056134"/>
            <a:ext cx="2732649" cy="428274"/>
          </a:xfrm>
          <a:prstGeom prst="roundRect">
            <a:avLst>
              <a:gd name="adj" fmla="val 21876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817" y="6182826"/>
            <a:ext cx="2514037" cy="38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달력 / 일정 목록  ·  초대·관리 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511" y="6560886"/>
            <a:ext cx="2732649" cy="428274"/>
          </a:xfrm>
          <a:prstGeom prst="roundRect">
            <a:avLst>
              <a:gd name="adj" fmla="val 21876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817" y="6687579"/>
            <a:ext cx="2514037" cy="38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일정 추가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월~일 시작. 날짜 셀 최대 3개와 +N을 표시하고 날짜 탭으로 전체 일정을 연다.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일정 탭 → UI08로 바로 이동. 날짜를 별도 공간으로 생성하지 않는다. 취소 일정은 표시를 유지한다.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초대·관리에서 모든 현재 참여자가 UI23에 진입한다. 보기 방식은 기기에 보관한다. ④ 현재 방장만 UI06에서 일정을 수동 추가한다. 반복 생성은 없다. 뒤로 오면 월·선택·스크롤을 복원한다.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달력 로딩 / 일정 없음 / 월 조회 실패 / 같은 날 4개 이상 / 여러 날 일정의 모든 셀 표시 / 날짜 요청 범위 366일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calendar, scheduleDelete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UI06  일정 추가와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일정 추가와 변경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9696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제목  |  우리의 서울 여행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41232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487280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시작 2026.10.17  /  종료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2026.10.19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11" y="299008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시간은 각 장소에서 입력해요 · 반복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427311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50226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최초 기록 완료 후 보관 기한은 바뀌지</a:t>
            </a:r>
          </a:p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않아요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005072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095639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③ 기간을 줄이면 기간 밖이 되는 기록 2개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· 방문 1개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삭제되지 않고 기간 밖 구역에 남아요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472336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485453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11" y="5238667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④ 일정 취소(기록 보존)  ·  빈 일정 삭제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방장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제목 100자. ② 날짜만 입력하며 시작 ≤ 종료, 포함 366일. 겹치는 일정은 안내 후 허용한다.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변경 저장 전에 기간 밖이 될 방문·기록 수를 서버가 계산해 확인받는다. 기록은 삭제되지 않고 기간 밖 구역에 유지된다.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기록·업로드가 있으면 삭제 불가이며 취소로 전환한다. 취소 후 신규 촬영·접수는 금지한다. 빈 일정만 완전 삭제한다.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기간 밖 기록 확인 / 버전 충돌과 입력 보존 / 기록 있는 삭제 거부 / 취소 재활성 거부 / 미저장 이탈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scheduleCreate, scheduleUpdate, scheduleCancel, scheduleDelete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UI08  일정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S01 · 99ab363 · 2026-10-26</a:t>
            </a:r>
          </a:p>
        </p:txBody>
      </p:sp>
      <p:pic>
        <p:nvPicPr>
          <p:cNvPr id="5" name="Picture 4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S01 · 서울 여행 일정 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헤더는 뒤로가기와 브랜드. 16:9 대표 배너는 화면 가로 끝까지 표시한다.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날짜 카드에 날짜·제목·장소/미디어 수를 표시한다. DAY 배지·썸네일·카드 안 추가 버튼은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일정 추가는 마지막 날 다음 날짜를 추가하는 데모 동작이다. 새 일정 생성(UI06)과 다르다.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src/prototype/screens/ItinerarySummaryScreen.tsx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F06 / F09 / F16 / F21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scheduleDetail, mediaList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M4  배경 사진 시트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M4 · 99ab363 · 2026-10-26</a:t>
            </a:r>
          </a:p>
        </p:txBody>
      </p:sp>
      <p:pic>
        <p:nvPicPr>
          <p:cNvPr id="5" name="Picture 4" descr="M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M4 · S01 → 배경 사진 변경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앨범에서 사진 고르기·취소. 직접 선택한 사진이 있으면 기본 이미지로 되돌리기 표시.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src/prototype/components/CoverEditSheet.tsx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S02  날짜별 장소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S02 · 99ab363 · 2026-10-26</a:t>
            </a:r>
          </a:p>
        </p:txBody>
      </p:sp>
      <p:pic>
        <p:nvPicPr>
          <p:cNvPr id="5" name="Picture 4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S02 · S01 → 날짜 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날짜 탭은 최대 4개씩 가로 스크롤. 선택 날짜의 장소를 순서·방문 시간과 함께 표시한다.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장소 이미지는 생략하고 장소명·사진/영상 수·기록 진입 링크를 표시한다.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편집은 빈 날짜에도 제공한다. 장소 추가는 S03, 장소 카드는 S04로 이동한다.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src/prototype/screens/ItineraryScreen.tsx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S02-empty  빈 날짜의 장소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S02-empty · 99ab363 · 2026-10-26</a:t>
            </a:r>
          </a:p>
        </p:txBody>
      </p:sp>
      <p:pic>
        <p:nvPicPr>
          <p:cNvPr id="5" name="Picture 4" descr="S02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S02-empty · 장소가 없는 10월 19일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빈 상태에서도 편집과 장소 추가를 제공한다.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src/prototype/screens/ItineraryScreen.tsx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S02-oneday  하루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S02-oneday · 99ab363 · 2026-10-26</a:t>
            </a:r>
          </a:p>
        </p:txBody>
      </p:sp>
      <p:pic>
        <p:nvPicPr>
          <p:cNvPr id="5" name="Picture 4" descr="S02-one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S02-oneday · 성수 당일치기 → 날짜별 장소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날짜가 하나인 일정에는 날짜 탭을 표시하지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src/prototype/screens/ItineraryScreen.tsx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S02-tabs  5일 일정의 날짜 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S02-tabs · 99ab363 · 2026-10-26</a:t>
            </a:r>
          </a:p>
        </p:txBody>
      </p:sp>
      <p:pic>
        <p:nvPicPr>
          <p:cNvPr id="5" name="Picture 4" descr="S02-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S02-tabs · S01에서 날짜 2개 추가 → 마지막 날짜 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추가한 날짜로 기간이 늘어나며 선택 탭이 온전히 보이도록 자동 스크롤한다.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최대 4개 탭이 여백 안에 표시된다. 데모의 최대 30일은 제품 명세의 366일과 다르다.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src/prototype/screens/ItineraryScreen.tsx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UI09  장소별 기록 · 사람별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S04-people · 99ab363 · 2026-10-26</a:t>
            </a:r>
          </a:p>
        </p:txBody>
      </p:sp>
      <p:pic>
        <p:nvPicPr>
          <p:cNvPr id="5" name="Picture 4" descr="S04-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S04-people · S04 → 사람별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작성자별 카드와 사진 격자. 여러 장은 +N으로 펼치거나 접는다.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이 캡처는 한 방문의 사람별 보기다. 일정 전체·기간 밖·장소 미지정 기록 조회는 기존 제품 계약으로 남는다.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src/prototype/screens/PlaceRecordsScreen.tsx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F16 / F17 / F19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mediaList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UI10  장소 검색과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S03 · 99ab363 · 2026-10-26</a:t>
            </a:r>
          </a:p>
        </p:txBody>
      </p:sp>
      <p:pic>
        <p:nvPicPr>
          <p:cNvPr id="5" name="Picture 4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S03 · 장소 추가 → 카페 카테고리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검색창·카테고리·예시 지도·결과 시트. 현재 캡처는 오프라인 예시 검색이다.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검색 결과와 핀을 연동하고 관련도순/거리순을 제공한다.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추가 성공 시 S02로 복귀하고 마지막 순서에 추가·추가됨 표시. 실제 카카오 연동은 별도 검수.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src/prototype/screens/PlaceSearchScreen.tsx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F09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placesSearch, visitCreate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S03-detail  장소 상세와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S03-detail · 99ab363 · 2026-10-26</a:t>
            </a:r>
          </a:p>
        </p:txBody>
      </p:sp>
      <p:pic>
        <p:nvPicPr>
          <p:cNvPr id="5" name="Picture 4" descr="S03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S03-detail · 카페 결과 → 성수 로스터리 카페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선택 날짜·주소를 확인하고 이 날의 장소로 추가한다. 선택만으로는 저장하지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src/prototype/components/PlaceDetailPanel.tsx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UI11  장소 직접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장소 직접 등록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9696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장소 이름  |  우리만의 피크닉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41232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57472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주소 (선택)  |  입력하지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2990087"/>
            <a:ext cx="2732649" cy="1483438"/>
          </a:xfrm>
          <a:prstGeom prst="roundRect">
            <a:avLst>
              <a:gd name="adj" fmla="val 7368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123" y="3083778"/>
            <a:ext cx="31230" cy="1296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8918" y="3083778"/>
            <a:ext cx="31230" cy="1296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8712" y="3083778"/>
            <a:ext cx="31230" cy="1296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7624" y="3805978"/>
            <a:ext cx="2498422" cy="468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38760" y="3560040"/>
            <a:ext cx="187381" cy="218611"/>
          </a:xfrm>
          <a:prstGeom prst="roundRect">
            <a:avLst>
              <a:gd name="adj" fmla="val 25000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7624" y="3702138"/>
            <a:ext cx="2498422" cy="6792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② 지도에서 핀 지정 (선택)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4551601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459532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방문일  |  2026.10.17  · 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예정 시각  |  미정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11" y="5066901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등록한 장소는 이 모임 안에서만 사용해요. 이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날짜 장소 3/15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511" y="550412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817" y="563529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③ 장소 등록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이름 1~100자, 주소 200자. 좌표 없는 등록을 허용하며 지도 마커·거리를 만들지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좌표 비교는 소수점 6자리. 이름·주소 앞뒤·연속 공백 정리 후 세 값이 같으면 중복이다.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방문일 마지막 순서에 추가한다. 예정 시각은 선택 입력(미정 허용)이며 날짜별 15개를 넘으면 거부한다. 공급자 원장에 게시하지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이름 없음 / 좌표 없음 / 동일 수기 정보 중복 / 장소 15개 도달 / 검사 거부 / 재전송 중복 방지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visitCreate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UI12  방문 계획 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S05 · 99ab363 · 2026-10-26</a:t>
            </a:r>
          </a:p>
        </p:txBody>
      </p:sp>
      <p:pic>
        <p:nvPicPr>
          <p:cNvPr id="5" name="Picture 4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S05 · S02 → 편집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날짜 제목 30자·위/아래 순서 이동·방문 시간·변경 저장.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드래그 없이 ▲▼로 이동한다. 시간 변경으로 순서를 자동 정렬하지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장소 메모 100자 입력은 데모에 남아 있다. 제품 명세의 날짜 공통 메모 제외와 차이가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src/prototype/screens/PlaceOrderEditScreen.tsx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F10 / F11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planUpdate, visitDelete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M1  방문 시간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M1 · 99ab363 · 2026-10-26</a:t>
            </a:r>
          </a:p>
        </p:txBody>
      </p:sp>
      <p:pic>
        <p:nvPicPr>
          <p:cNvPr id="5" name="Picture 4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M1 · S02 → 방문 시간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오전/오후·시·분 휠. 분은 1분 단위이며 시간 미정·취소·확인 제공.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기존 설계의 5분 단위 입력과 차이가 있다. 저장 형식은 HH:mm이다.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src/prototype/components/TimeEditModal.tsx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S05-empty  빈 날짜 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S05-empty · 99ab363 · 2026-10-26</a:t>
            </a:r>
          </a:p>
        </p:txBody>
      </p:sp>
      <p:pic>
        <p:nvPicPr>
          <p:cNvPr id="5" name="Picture 4" descr="S05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S05-empty · 빈 날짜 → 편집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장소 행 없이 날짜 제목을 수정할 수 있다. 메모 입력은 데모에 남아 있는 차이 사항이다.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src/prototype/screens/PlaceOrderEditScreen.tsx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UI13  장소별 기록 · 사진별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S04 · 99ab363 · 2026-10-26</a:t>
            </a:r>
          </a:p>
        </p:txBody>
      </p:sp>
      <p:pic>
        <p:nvPicPr>
          <p:cNvPr id="5" name="Picture 4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S04 · S02 → 오후의 커피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장소 헤더·올리기·사진/영상 수·최신/오래된순·사진별/사람별 전환.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파일 하나당 4:3 카드 하나. 작성자·시각·설명·영상 길이를 표시한다.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데모 최신순은 게시물 시각 기준이며 제품의 촬영 시각 기준 오름차순과 차이가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src/prototype/screens/PlaceRecordsScreen.tsx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F09 / F14 / F16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mediaList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S04-empty  기록 없는 장소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S04-empty · 99ab363 · 2026-10-26</a:t>
            </a:r>
          </a:p>
        </p:txBody>
      </p:sp>
      <p:pic>
        <p:nvPicPr>
          <p:cNvPr id="5" name="Picture 4" descr="S04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S04-empty · S02 → 작은책방 하루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기록 없음 안내와 올리기 버튼을 표시한다.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src/prototype/screens/PlaceRecordsScreen.tsx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UI14  기록 추가 시트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M2 · 99ab363 · 2026-10-26</a:t>
            </a:r>
          </a:p>
        </p:txBody>
      </p:sp>
      <p:pic>
        <p:nvPicPr>
          <p:cNvPr id="5" name="Picture 4" descr="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M2 · S04 → 사진·동영상 올리기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빈 선택 목록·추가 타일·업로드하기. 선택 0개이면 제출 비활성.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화면의 최대 10개는 데모 값이다. 제품 계약의 방문별 사진5/영상2·다중선택120과 구분한다.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490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실제 업로드는 팀원 연결 지점이며 서버 저장 완료를 뜻하지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src/prototype/screens/PlaceRecordsScreen.tsx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F12 / F13 / F14 · 현재 참여자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uploadPrepare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M3  촬영과 앨범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M3 · 99ab363 · 2026-10-26</a:t>
            </a:r>
          </a:p>
        </p:txBody>
      </p:sp>
      <p:pic>
        <p:nvPicPr>
          <p:cNvPr id="5" name="Picture 4" descr="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M3 · M2 → 추가 타일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사진 촬영·동영상 촬영·앨범 선택 연결. OS 선택기 자체는 이 캡처에 포함하지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src/prototype/components/MediaPickerSheet.tsx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UI15  사진과 짧은 영상 촬영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사진과 짧은 영상 촬영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2420346"/>
          </a:xfrm>
          <a:prstGeom prst="roundRect">
            <a:avLst>
              <a:gd name="adj" fmla="val 4516"/>
            </a:avLst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624" y="2996334"/>
            <a:ext cx="2498422" cy="114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① 카메라 미리보기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4332989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4464157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사진  /  영상✓     전후면 전환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4848289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4979456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1초  2초  3초✓  4초  5초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11" y="5363589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③ 마이크 꺼짐 · 무음 영상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580081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593198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녹화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631611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644727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취소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후면 기본. 영상 최대1080p/30fps, 미지원720p. 촬영 전만 전후면 전환 가능하다.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기본3초, 기기 마지막 정수1~5초 기억. 자동 종료 ±0.25초, 조기 종료는 0.5초 이상.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마이크 거절이어도 무음 촬영 허용. ④ 녹화 중 정지 버튼. 결과 확인·재촬영·사용, 앱 전환/전화 뒤 유효성 확인.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카메라 거절 / 녹화 중 / 결과 확인 / 0.5초 미만 / 저장공간 부족 / 권한 회수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uploadPrepare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UI16  파일 선택과 업로드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파일 선택과 업로드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① 3개 선택됨 / 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1851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불러온 항목 모두 선택  ·  해제  ·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+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2990087"/>
            <a:ext cx="2732649" cy="1014983"/>
          </a:xfrm>
          <a:prstGeom prst="roundRect">
            <a:avLst>
              <a:gd name="adj" fmla="val 10769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1047" y="3130624"/>
            <a:ext cx="390378" cy="327917"/>
          </a:xfrm>
          <a:prstGeom prst="roundRect">
            <a:avLst>
              <a:gd name="adj" fmla="val 21428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085" y="3169662"/>
            <a:ext cx="312302" cy="234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229" b="0">
                <a:solidFill>
                  <a:srgbClr val="B8433F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624" y="3477280"/>
            <a:ext cx="2498422" cy="445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✓ 1번 사진      ✓ 2번 영상</a:t>
            </a:r>
          </a:p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00:03</a:t>
            </a:r>
          </a:p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✓ 3번 사진      □ 4번 사진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08314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24554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기록일  |  2026.10.17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466090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470463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④ 방문  |  성수 로스터리 카페 &gt;  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사진 2/5 · 영상 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517620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533860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⑤ 설명  |  함께 마신 커피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11" y="575396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위치 태그를 제거하고 검사 후 공개해요.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511" y="6191191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817" y="6234913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⑥ 3개 업로드   /   저장 · 수정</a:t>
            </a:r>
          </a:p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· 삭제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 또는 본인 기록 경로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업로드 전 후보 선택과 기존 기록의 다중 선택이 같은 화면이다(이전 UI19 통합). 길게 누르기 또는 선택 버튼으로 진입하며 최대120개, 불러오지 않은 파일은 자동 선택하지 않는다. 묶음 전체 선택을 지원한다.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③~⑤ 업로드 맥락: 파일별 기록일(일정 범위 안, 단일일 자동·다일은 오늘/시작일 제안)·방문(방문일=기록일, 미지정 허용)·설명 1000자. 선택한 파일에 기록일·방문을 일괄 지정할 수 있다. 방문별 남은 개수를 보여 주고 초과 파일은 제출 전에 표시하며 서버가 파일별로 거부한다.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⑥ 기존 기록 맥락: 저장은 조회 가능한 타인 파일도 가능, 수정은 같은 일정 본인 파일만(UI20), 삭제는 본인만. 타인 혼합이면 수정/삭제 비활성 이유를 표시하고 서버도 거부한다. 본인 보존 경로(UI22)는 삭제만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사진50MB·100MP / 영상200MB·60초 / 0개·121개 / 방문일 불일치 / 사진5·영상2 초과 / 타인 혼합 / 선택 중 파일 삭제·만료 / 기한 경과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uploadPrepare, metadataPatch, mediaDelete, exportCreate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UI17  파일 전송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파일 전송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순간을 모으는 중이에요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707453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1번 사진  ·  완료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193084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338305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2번 영상  ·  서버 확인 중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전송 100% · 위치 제거·검사 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911381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4056601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3번 사진  ·  실패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네트워크 연결 확인  /  재시도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629677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774898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④ 4번 영상  ·  검토 대기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아직 공개되지 않았어요  /  문의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5347973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547914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실패 파일만 다시 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11" y="5863273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미완료 작업 취소  ·  닫기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업로드 작성자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완료 파일만 공동 목록 반영. ② 전송100%는 완료가 아니다. 검토 대기는 비공개다.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파일별1·2·4초 최대3회 자동 재시도. 오프라인 대기는 횟수 미소모, 동시3개.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취소 이전 서버 접수한 같은 파일은 일정 취소 후에도 재시도 가능. 권한 소멸·종료·만료·사용자 취소가 우선한다.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준비·대기 / 전송 / 서버 확인 / 검토 / 완료 / 실패 / 취소 / 결과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uploadGet, uploadRetry, uploadCancel, uploadCommit, uploadHead, uploadChunk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UI18  사진 확대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V1-photo · 99ab363 · 2026-10-26</a:t>
            </a:r>
          </a:p>
        </p:txBody>
      </p:sp>
      <p:pic>
        <p:nvPicPr>
          <p:cNvPr id="5" name="Picture 4" descr="V1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V1-photo · S04 → 도윤 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전체 화면 사진·확대/축소·닫기. 버튼과 두 번 탭 확대를 제공한다.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저장·다중 선택·신고/차단 등 제품 기능은 이 데모 뷰어에 구현되어 있지 않다.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src/demo/MediaViewerModal.tsx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87628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제품 계약: F16 / F17 / F18 / F19 / F25 · 현재 참여자 또는 본인 보존 경로</a:t>
            </a:r>
          </a:p>
          <a:p>
            <a:pPr>
              <a:spcAft>
                <a:spcPts val="500"/>
              </a:spcAft>
              <a:defRPr sz="1200" b="0">
                <a:solidFill>
                  <a:srgbClr val="5F6B78"/>
                </a:solidFill>
                <a:latin typeface="Noto Sans CJK KR"/>
              </a:defRPr>
            </a:pPr>
            <a:r>
              <a:t>API: mediaStream, metadataPatch, mediaDelete, reportCreate, exportCreate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V1-video  동영상 재생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V1-video · 99ab363 · 2026-10-26</a:t>
            </a:r>
          </a:p>
        </p:txBody>
      </p:sp>
      <p:pic>
        <p:nvPicPr>
          <p:cNvPr id="5" name="Picture 4" descr="V1-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V1-video · S04 → 도윤 동영상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번들 예시 동영상과 재생 컨트롤. 웹 렌더링 캡처이며 Android 재생 검수 결과와 구분한다.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src/demo/MediaViewerModal.tsx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UI20  본인 기록 일괄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본인 기록 일괄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① 내 기록 3개 수정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60595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[✓] 설명 적용   /   [ ]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299008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15248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설명 | 함께한 산책  [설명 비우기]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56784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61157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[✓] 기록일 적용   2026.10.18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08314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21431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[✓] 방문 적용  |  장소 미지정 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459844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476084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③ 변경할 필드와 3개 대상을 확인해요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517620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530737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변경 내용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511" y="5691506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817" y="582267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3개에 함께 적용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 중인 작성자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필드별 적용/유지, 빈 문자열·방문 해제는 명시적 동작이다. 날짜 변경으로 기존 방문이 안 맞으면 해제·재선택한다.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본인·같은 모임/일정·120개·버전·대상 방문의 사진5/영상2 한도 검증. 설명 검사 중에는 기존 공개 내용을 유지한다.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검사를 통과한 뒤 재검증하여 전체 원자 적용. 하나라도 오류면 전체 미적용과 대상별 이유·입력을 유지한다.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필드 미선택 / 다른 일정 혼입 / 대상 방문 한도 초과 / 검사 중·거부 / 버전 충돌 / 일부 적용 금지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metadataPatch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UI21  휴대폰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휴대폰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선택한 기록 3개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620009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사진 2개  ·  영상 1개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위치 정보를 제거한 파일로 준비해요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19308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32425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파일 준비 중  2/3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70838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83955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③ 휴대폰에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11" y="4223683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Pictures/At that place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Movies/At that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11" y="466090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④ 다른 앱으로 보내는 기능은 제공하지 않아요.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기기의 원본을 덮어쓰지 않아요.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원래 해상도의 위치 제거 저장본 우선. 지원 불가 시 호환본과 변환 여부 안내. UI16 선택 모드 또는 UI18에서 진입한다.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내려받기와 기기 쓰기를 구분하고 성공 뒤 경로 표시. 부분 성공이면 실패만 재시도한다. 임시 파일은 기기 쓰기 후 정리한다.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OS 공유창·외부 앱 전달은 1차 범위에서 제거했다(2026-10-20 회의). 저장 요청은 purpose=save만 허용한다.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준비 / 다운로드 / 기기 쓰기 / 부분 실패 / 공간 부족 / 권한 변경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exportCreate, exportGet, exportFile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UI22  내가 올린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내가 올린 기록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87829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전체 모임 &gt;  ·  기한순 &gt;  · 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349867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495088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주말 산책 · 우리의 서울 여행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참여 중 · 2027.01.19까지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068163"/>
            <a:ext cx="2732649" cy="1014983"/>
          </a:xfrm>
          <a:prstGeom prst="roundRect">
            <a:avLst>
              <a:gd name="adj" fmla="val 10769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047" y="3208699"/>
            <a:ext cx="390378" cy="327917"/>
          </a:xfrm>
          <a:prstGeom prst="roundRect">
            <a:avLst>
              <a:gd name="adj" fmla="val 21428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085" y="3247737"/>
            <a:ext cx="312302" cy="234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229" b="0">
                <a:solidFill>
                  <a:srgbClr val="B8433F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624" y="3555356"/>
            <a:ext cx="2498422" cy="445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지민 · 사진  /  영상 00:03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161223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306444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이전 모임 · 바다 여행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참여 종료 · 본인 조회·삭제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4879519"/>
            <a:ext cx="2732649" cy="1014983"/>
          </a:xfrm>
          <a:prstGeom prst="roundRect">
            <a:avLst>
              <a:gd name="adj" fmla="val 10769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047" y="5020055"/>
            <a:ext cx="390378" cy="327917"/>
          </a:xfrm>
          <a:prstGeom prst="roundRect">
            <a:avLst>
              <a:gd name="adj" fmla="val 21428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085" y="5059093"/>
            <a:ext cx="312302" cy="234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229" b="0">
                <a:solidFill>
                  <a:srgbClr val="B8433F"/>
                </a:solidFill>
                <a:latin typeface="Noto Sans CJK KR"/>
              </a:defRPr>
            </a:pPr>
            <a:r>
              <a:t>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624" y="5366712"/>
            <a:ext cx="2498422" cy="445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지민 · 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11" y="5972579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③ 참여 종료 후 새 저장은 할 수 없어요.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11" y="6409803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817" y="654097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선택한 내 서버 기록 삭제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로그인한 작성자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활성 참여·빈자리·초대를 요구하지 않는다. 종료 모임의 본인 보존 파일도 최소 정보와 함께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타인 파일·공동 계획·참여자 목록을 노출하지 않는다. 본인 확대/재생/삭제만 가능하다.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삭제는 최대120개·다른 모임 혼합 허용. 사전 권한 오류는 전체 거부, 실행 결과는 파일별 성공·실패·이미삭제로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참여 중·종료 / 만료 상태30일·설명 숨김 / 파일별 삭제 실패 / 이미 삭제 멱등 성공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mineList, mediaDelete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UI23  초대 발급과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초대 발급과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모임에 초대하기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11" y="247478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현재 6/10명 · 초대는 7일 · 확인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50회까지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912012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3002580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① 초대 코드  Q7KM2P8R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10.17 12:00 발급 → 10.24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12:00 만료 · 확인 12/50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63030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76147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② 링크 복사   /   OS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14560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27677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이 초대 취소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660907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751475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이전 초대  H5TW8C2N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10.16 발급 · 소진 50/50  · 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취소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11" y="5379204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받은 사람이 다른 사람에게 전달하면 그 사람도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참여할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581642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594759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새 초대 발급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모든 현재 참여자(방장 포함)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783080"/>
            <a:ext cx="969264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모든 현재 참여자가 같은 모임의 초대를 조회·발급·공유·복사·취소한다. 발급자 본인 여부는 관리 권한의 기준이 아니다. 참여 종료·모임 종료·이용 제한은 서버가 재검증한다.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846070"/>
            <a:ext cx="969264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코드 길이8자는 기술 설계안이며 기능명세의 고정 정책이 아니다. 만료는 서버 발급시각+168시간, 확인 횟수는 서버가 그 초대로 미리보기를 응답한 수이며 50회에 소진된다.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909060"/>
            <a:ext cx="969264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모임명·요약·링크·코드만 공유. 공유 취소는 초대 취소가 아니다. 상태는 사용 가능·소진·만료·취소로 구분한다.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972050"/>
            <a:ext cx="969264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새 발급은 기존 초대를 유지하고 횟수는 0부터 시작한다. 같은 요청 재시도는 동일 초대. 참여 확정은 횟수를 소모하지 않으며 소진·취소는 기존 참여자에게 영향이 없다.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발급 실패·결과 불명 / 취소·만료·소진 / 정원10명 / 일반 참여자 동일 권한 / 비참여·탈퇴·퇴장·이용 제한 거부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invitesList, inviteCreate, inviteRevoke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UI24  초대 확인과 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초대 확인과 참여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9696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초대 코드  |  Q7KM2P8R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412327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557548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주말 산책 모임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우리의 서울 여행 · 10.17–10.19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11" y="3130624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참여 후에 장소와 기록을 볼 수 있어요.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56784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69901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③ 로그인하고 참여 계속하기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08314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21431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④ 참여하기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11" y="459844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확인한 내용은 로그인 뒤에도 유지돼요. 초대는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7일 · 확인 50회까지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초대받은 사용자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비로그인 미리보기는 모임명·일정 요약만 공개한다. 대표 사진·참여자·기록·장소 목록은 공개하지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인증/가입 뒤 같은 초대 확인으로 복귀한다. 로그인 성공만으로 자동 참여시키지 않는다. 복귀 시 앱이 보관한 확인 결과를 쓰고 확인 횟수를 추가하지 않는다.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확정 시 유효성·정원·차단·활성100모임·이용제한을 재검증한다. 이미 참여했으면 인원 증가 없이 UI05로 이동한다.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잘못된 코드 / 로그인 전·후 / 만료 / 소진(50회) / 취소 / 정원 초과 / 차단 / 종료 모임 / 이미 참여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invitePreview, inviteJoin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UI25  모임 정보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모임 정보 변경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1014983"/>
          </a:xfrm>
          <a:prstGeom prst="roundRect">
            <a:avLst>
              <a:gd name="adj" fmla="val 10769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1047" y="1975104"/>
            <a:ext cx="390378" cy="327917"/>
          </a:xfrm>
          <a:prstGeom prst="roundRect">
            <a:avLst>
              <a:gd name="adj" fmla="val 21428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085" y="2014141"/>
            <a:ext cx="312302" cy="234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1229" b="0">
                <a:solidFill>
                  <a:srgbClr val="B8433F"/>
                </a:solidFill>
                <a:latin typeface="Noto Sans CJK KR"/>
              </a:defRPr>
            </a:pPr>
            <a:r>
              <a:t>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624" y="2321760"/>
            <a:ext cx="2498422" cy="445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4E5968"/>
                </a:solidFill>
                <a:latin typeface="Noto Sans CJK KR"/>
              </a:defRPr>
            </a:pPr>
            <a:r>
              <a:t>① 대표 사진  ·  16:9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292762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05879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사진 선택  /  기본 이미지로 복원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344292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360532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모임 이름  |  주말 산책 모임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11" y="402068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대표 사진 긴 변 1600px 이하 · 저장본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5MB 이하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11" y="4457911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③ 위치 태그 제거·콘텐츠 검사 후 반영해요.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489513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502630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변경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방장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사진 한 장 선택·미리보기·교체. 일반 기록 파일에 대표사진 한도를 적용하지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공백만 금지·50자. 최신 버전과 현재 방장 확인. 새 초대 정보에 변경 이름을 반영한다.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취소·변환·전송·검사 실패·동시 충돌 시 기존 공개 정보와 입력을 유지한다.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기본 이미지 / 사진 선택·검사 중 / 검사 거부 / 버전 충돌 / 일반 참여자 거부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groupUpdate, coverPrepare, uploadHead, uploadChunk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UI26  참여자와 역할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참여자와 역할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함께하는 사람 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60595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지민  ·  방장   (나)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299008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12125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수현  ·  참여자     더보기 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50538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63655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민서  ·  참여자        더보기 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02068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15185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② 방장 이전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4535986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4667153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③ 재참여 차단 목록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11" y="5051286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신고 · 개인 차단  /  모임 나가기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참여자·방장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목록에는 표시명·방장 표시만 제공한다. 소셜 식별값·연락처는 표시하지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방장은 타인 퇴장과 모임별 재참여 차단을 함께 처리한다. 완료 파일과 본인 조회/삭제 권한은 유지한다.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즉시 이전이며 수락 대기 없음. ③ 방장만 차단 해제, 해제는 자동 재가입이 아니다. 개인 차단은 별도 UI31이다.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일반 참여자는 이전·퇴장 버튼 없음 / 대상이 나감 / 이전 충돌 / 오래된 퇴장 재시도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membersList, ownerTransfer, memberRemove, reentryUnblock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UI27  모임 나가기와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모임 나가기와 종료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① 모임을 나가시겠어요?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65356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올린 기록은 표시된 기한까지 유지돼요.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본인 기록은 나간 뒤에도 조회·삭제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가능해요.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511" y="3193084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나간 뒤 새 저장·정보 수정은 불가해요.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63030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76147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방장인 경우 후임 선택 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145608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220560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③ 혼자 남은 방장은 모임 종료와</a:t>
            </a:r>
          </a:p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본인 서버 기록 삭제를 확인해 주세요.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72336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85453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확인하고 나가기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523866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536983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돌아가기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참여자·방장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다른 참여자가 있으면 방장 이전 성공을 먼저 확인한다. 방장인 채 나가기는 거부한다.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마지막1명일 때만 종료. 타인 유효 파일은 기한까지 본인 조회/삭제용 보존한다. 모임은 재개 불가다.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새 참여·역할 이전과 직렬화하여 종료 가능 여부를 재검증한다. 파일·계정 삭제 우선 규칙을 적용한다.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일반 나가기 / 방장 후임 필요 / 마지막 방장 / 동시 참여로 종료 거부 / 정리 실패 추적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groupLeave, groupClose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UI28  설정과 문의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설정과 문의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6573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표시명  지민  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34986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48103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내가 올린 기록  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2865166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299633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로그인 수단 관리  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3380466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3511633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약관·개인정보·동의 내역  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3895766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026933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저장 공간과 캐시  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441106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454223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차단 목록 · 신고 결과 · 문의  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511" y="492636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817" y="505753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④ 로그아웃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11" y="5441664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계정 삭제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로그인한 본인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표시명 변경은 작성자 표시에도 반영하되 소유ID는 유지한다. 사진 프로필 설정은 없다.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문서버전·선택시각·변경·철회를 조회한다. 선택 동의는 변경 가능, 필수 철회는 계정 삭제로 연결한다.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진행 업로드가 있으면 작업확인/중단 후 로그아웃/돌아가기. 실제 공개 문의 연락처는 배포 전에 설정한다.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문의 식별값 / 세션 만료 / 업로드 중 로그아웃 / 다른 계정 캐시 분리 / 필수 재동의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profilePatch, consentDocs, consentUpdate, logout, inquiryCreate, profileGet, consentsMine, notificationsList, notificationRead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UI29  로그인 수단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로그인 수단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로그인 수단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707453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카카오  ·  연결됨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193084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425750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Google  ·  연결하기 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11" y="3911381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같은 이메일이어도 자동 연결하지 않아요.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348605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479772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③ 본인 재인증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11" y="4863904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연결 해제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재인증한 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본인 재인증과 새 공급자 인증 둘 다 필요. 공급자 subject가 다른 앱 계정 소유이면 거부한다.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세션 소유자와 최근 재인증을 확인하고 명시적 연결만 수행한다. 기존 두 계정 데이터 병합은 없다.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마지막 로그인 수단 해제는 거부한다. 공급자 토큰·비밀값을 화면과 로그에 노출하지 않는다.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연결 성공 / 다른 계정 사용 중 / 마지막 수단 해제 거부 / 재인증 만료 / 사용자 취소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identityLink, identityUnlink, identitiesList, reauthenticate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UI30  계정 삭제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계정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계정을 삭제하기 전에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65356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① 방장 역할 정리 필요 2개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산책 모임: 방장 이전 &gt;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혼자 있는 모임: 종료와 본인 기록 삭제 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511" y="3193084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② 모든 모임의 내 서버 기록이 삭제돼요.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나간 모임·종료 모임도 포함해요.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11" y="363030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타인 기록·기기 원본·외부 사본은 유지돼요.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406753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419869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[ ] 삭제 결과를 확인했어요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58283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71399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③ 본인 확인 후 계정 삭제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재인증한 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방장 역할 정리가 하나라도 남으면 서버에서 거부한다. 자동 후임 선임은 하지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조회 목록이 아닌 작성자ID로 전체 파일을 찾고 계정 접근·업로드·완료부터 차단한다.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삭제 직전 역할 수신/신규 모임을 다시 검증한다. 조회 차단과 물리정리 진행 상태를 분리한다.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역할 정리 필요 / 재인증 / 동시 역할 수신 / 삭제 접수·정리 중 / 결과 불명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accountDelete, deletionPreconditions, reauthenticate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UI31  신고와 개인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신고와 개인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11" y="183456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817" y="196573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신고 대상  |  수현의 사진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349867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251226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사유  |  내용을 입력해 주세요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292762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05879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② 신고 접수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344292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357409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③ 이 사용자의 기록 숨기기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3958226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103447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내 신고 결과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검토 중 · 문의용 번호 RPT-2026-…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11" y="4676522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차단 목록  /  조치 이의 문의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파일·대표 사진·참여자를 신고하며 사유2000자와 최소 증거를 연결한다.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신고만으로 자동 삭제하지 않는다. 최초24시간, 이의3영업일 검토 기준을 적용한다.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개인 차단은 내 공동 목록·집계·저장/공유·직접경로에만 적용한다. 방장 역할·타인 화면·기한을 바꾸지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신고 중복 / 검토·조치·미조치 / 차단·해제 / 서비스 제한 중 문의·삭제 경로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reportCreate, reportsMine, blockCreate, blockDelete, inquiryCreate, blocksList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UI32  방장 부재 복구 문의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방장 부재 복구 문의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방장 부재 복구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637185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부재 사유와 최소 확인 자료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05254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18371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후임 후보  |  수현 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11" y="356784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후임의 별도 동의와 본인 확인이 필요해요.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005072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080024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③ 기존 방장에게 통지하고 7일간</a:t>
            </a:r>
          </a:p>
          <a:p>
            <a:pPr>
              <a:spcAft>
                <a:spcPts val="100"/>
              </a:spcAft>
              <a:defRPr sz="983" b="0">
                <a:solidFill>
                  <a:srgbClr val="B8433F"/>
                </a:solidFill>
                <a:latin typeface="Noto Sans CJK KR"/>
              </a:defRPr>
            </a:pPr>
            <a:r>
              <a:t>응답을 기다린 뒤 담당자가 검토해요.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11" y="458283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817" y="471399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④ 복구 검토 요청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11" y="5098131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817" y="5330797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처리 상태  접수 → 확인 → 통지 → 검토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현재 참여자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접수만으로 역할 변경하지 않는다. 요청자 재인증·참여이력·후임 의사·부재 근거를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앱 내 계정 알림과 동의한 보조 연락수단에 통지한다. 7일 경과만으로 자동 승인하지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운영자가 실행 직전 현재 방장·후임·모임상태·버전을 확인한다. 종료 모임 재개 불가, 분쟁/증거부족은 보류한다.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자료 부족 / 통지·응답 대기 / 이의·보류 / 직접 이전으로 오래된 승인 무효 / 승인·거절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recoveryCreate, recoveryGet, reauthenticate, recoveryConsent, recoveryResponse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UI33  저장 공간과 캐시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저장 공간과 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저장 공간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65356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① 모임 원본  1.2GB / 5GB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전송 예약 0.1GB · 남은 용량</a:t>
            </a:r>
          </a:p>
          <a:p>
            <a:pPr>
              <a:spcAft>
                <a:spcPts val="100"/>
              </a:spcAft>
              <a:defRPr sz="860" b="0">
                <a:solidFill>
                  <a:srgbClr val="191F28"/>
                </a:solidFill>
                <a:latin typeface="Noto Sans CJK KR"/>
              </a:defRPr>
            </a:pPr>
            <a:r>
              <a:t>3.7GB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3193084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338305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기기 재생 캐시 210MB /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최대500MB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911381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4056601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미완료 업로드 임시 파일 80MB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업로드가 끝날 때까지 별도로 보관해요.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629677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760844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④ 재생 캐시만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11" y="514497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삭제한 원본은 실제 정리 완료 후 용량이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돌아와요.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로그인한 본인·모임 참여자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완료 원본 바이트+예약으로 접수 검증. 5GB=5,000,000,000바이트, 파생본 사용량은 운영용 별도다.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② LRU500MB. ③ 유일 업로드 원본·설명·보류 작업은 캐시 정리에서 제외한다.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④ 캐시 삭제는 서버 기록 삭제가 아니다. 저장용 임시 파일은 기기 쓰기 완료 후 정리한다.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공간 조회 실패 / 한도 도달 / 정리 중·실패 / 원본 정리 대기 / 로그아웃 계정별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storageUsage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UI34  운영 검토와 복구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운영 검토와 복구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운영 검토 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11" y="247478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817" y="251851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① 검사 대기 12  /  신고 3  / 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복구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11" y="2990087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817" y="3135308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② 비공개 영상 · 판정 불가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대상·근거·최소 증거·처리 이력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11" y="370838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817" y="383955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③ 제한 / 삭제 / 해제 / 이용 제한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11" y="4223683"/>
            <a:ext cx="2732649" cy="499684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817" y="4386081"/>
            <a:ext cx="2514037" cy="452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처리 사유  |  필수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511" y="4801444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817" y="4932611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④ 이의·결과 안내  /  복구 요청 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11" y="5316743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B8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17" y="5447910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FFFFFF"/>
                </a:solidFill>
                <a:latin typeface="Noto Sans CJK KR"/>
              </a:defRPr>
            </a:pPr>
            <a:r>
              <a:t>⑤ 검증 후 조치 확정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별도 인증 운영자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운영 전용 웹 화면의 모바일 폭 축약 와이어프레임이다. 실제 운영 화면은 목록+상세 2열로 구현한다.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일반 방장과 분리한 운영 권한·사유·처리자·시각 감사이력을 남긴다. 검사 장애는 비공개 수동 검토로 보낸다.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⑤ 복구는 통지·7일 대기·후임 동의·수동 결정 후 버전을 재검증한다. 증거 암호화·종료 후90일 이내 정리.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운영 로그인 실패 / 권한 부족 / 동시 조치 / SLA 초과 / 복구 이견·종료 / 감사 저장 실패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opsQueue, opsAction, opsRecovery, opsCaseGet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UI35  오류와 변경 결과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명세 기반 설계안 · 기존 화면 유지 · 2026-10-26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044952" cy="658958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11" y="1053810"/>
            <a:ext cx="1561513" cy="195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737" b="0">
                <a:solidFill>
                  <a:srgbClr val="5F6B78"/>
                </a:solidFill>
                <a:latin typeface="Noto Sans CJK KR"/>
              </a:defRPr>
            </a:pPr>
            <a:r>
              <a:t>9:41   ·  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11" y="1334883"/>
            <a:ext cx="2732649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13" b="1">
                <a:solidFill>
                  <a:srgbClr val="191F28"/>
                </a:solidFill>
                <a:latin typeface="Noto Sans CJK KR"/>
              </a:defRPr>
            </a:pPr>
            <a:r>
              <a:t>‹  오류와 변경 결과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511" y="1834567"/>
            <a:ext cx="2732649" cy="56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1475" b="1">
                <a:solidFill>
                  <a:srgbClr val="191F28"/>
                </a:solidFill>
                <a:latin typeface="Noto Sans CJK KR"/>
              </a:defRPr>
            </a:pPr>
            <a:r>
              <a:t>① 저장 결과를 확인 중이에요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11" y="2474788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요청은 접수됐을 수 있어요.</a:t>
            </a:r>
          </a:p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내용을 다시 만들지 않고 확인할게요.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511" y="2912012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17" y="3043179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② 같은 요청 결과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11" y="3427311"/>
            <a:ext cx="2732649" cy="640220"/>
          </a:xfrm>
          <a:prstGeom prst="roundRect">
            <a:avLst>
              <a:gd name="adj" fmla="val 14634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7" y="3572532"/>
            <a:ext cx="2514037" cy="59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③ 다른 사람이 먼저 수정했어요.</a:t>
            </a:r>
          </a:p>
          <a:p>
            <a:pPr>
              <a:spcAft>
                <a:spcPts val="100"/>
              </a:spcAft>
              <a:defRPr sz="983" b="0">
                <a:solidFill>
                  <a:srgbClr val="191F28"/>
                </a:solidFill>
                <a:latin typeface="Noto Sans CJK KR"/>
              </a:defRPr>
            </a:pPr>
            <a:r>
              <a:t>내 입력을 유지했어요. 최신 내용 확인 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11" y="4145608"/>
            <a:ext cx="2732649" cy="437223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17" y="4276775"/>
            <a:ext cx="2514037" cy="390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  <a:defRPr sz="983" b="1">
                <a:solidFill>
                  <a:srgbClr val="B8433F"/>
                </a:solidFill>
                <a:latin typeface="Noto Sans CJK KR"/>
              </a:defRPr>
            </a:pPr>
            <a:r>
              <a:t>최신 내용에 다시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11" y="4660907"/>
            <a:ext cx="2732649" cy="35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5F6B78"/>
                </a:solidFill>
                <a:latin typeface="Noto Sans CJK KR"/>
              </a:defRPr>
            </a:pPr>
            <a:r>
              <a:t>④ 문의용 번호 REQ-2026-…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11" y="5098131"/>
            <a:ext cx="2732649" cy="296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60" b="0">
                <a:solidFill>
                  <a:srgbClr val="B8433F"/>
                </a:solidFill>
                <a:latin typeface="Noto Sans CJK KR"/>
              </a:defRPr>
            </a:pPr>
            <a:r>
              <a:t>문의하기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0842" y="7409172"/>
            <a:ext cx="811987" cy="31230"/>
          </a:xfrm>
          <a:prstGeom prst="roundRect">
            <a:avLst>
              <a:gd name="adj" fmla="val 25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097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1F28"/>
                </a:solidFill>
                <a:latin typeface="Noto Sans CJK KR"/>
              </a:defRPr>
            </a:pPr>
            <a:r>
              <a:t>대상: 작업 중 사용자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78308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① 응답 유실과 확정 실패를 구분한다. 업무 요청ID/멱등키로 기존 결과를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0040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③ 버전 충돌 시 자동 덮어쓰지 않고 내 입력·최신 값·재적용·취소를 제공한다.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617720"/>
            <a:ext cx="96926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91F28"/>
                </a:solidFill>
                <a:latin typeface="Noto Sans CJK KR"/>
              </a:defRPr>
            </a:pPr>
            <a:r>
              <a:t>오프라인은 신규 조회/쓰기 제한과 재시도, 권한상실은 공동화면 종료 후 본인 기록 경로 유지. 내부 경로·토큰은 노출하지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6172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로딩 / 실제 빈 결과 / 조회 실패 / 오프라인 / 충돌 / 결과 불명 / 권한 상실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72237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B78"/>
                </a:solidFill>
                <a:latin typeface="Noto Sans CJK KR"/>
              </a:defRPr>
            </a:pPr>
            <a:r>
              <a:t>API: operationGet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S0  데모 일정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36408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B78"/>
                </a:solidFill>
                <a:latin typeface="Noto Sans CJK KR"/>
              </a:defRPr>
            </a:pPr>
            <a:r>
              <a:t>브랜치 실행 캡처 · S0 · 99ab363 · 2026-10-26</a:t>
            </a:r>
          </a:p>
        </p:txBody>
      </p:sp>
      <p:pic>
        <p:nvPicPr>
          <p:cNvPr id="5" name="Picture 4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042222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31920" y="1051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1F28"/>
                </a:solidFill>
                <a:latin typeface="Noto Sans CJK KR"/>
              </a:defRPr>
            </a:pPr>
            <a:r>
              <a:t>S0 · /prototype 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91F28"/>
                </a:solidFill>
                <a:latin typeface="Noto Sans CJK KR"/>
              </a:defRPr>
            </a:pPr>
            <a:r>
              <a:t>데모 전용 진입 화면. 서비스의 내 모임(UI03)과 구분한다.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33F"/>
                </a:solidFill>
                <a:latin typeface="Noto Sans CJK KR"/>
              </a:defRPr>
            </a:pPr>
            <a:r>
              <a:t>출처와 적용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44068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src/demo/DemoHome.tsx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Expo 데모 모드 · Playwright Chromium 웹 · 390×844 CSS px · DPR 2 · ko-KR · Asia/Seoul</a:t>
            </a:r>
          </a:p>
          <a:p>
            <a:pPr>
              <a:spcAft>
                <a:spcPts val="500"/>
              </a:spcAft>
              <a:defRPr sz="1400" b="0">
                <a:solidFill>
                  <a:srgbClr val="5F6B78"/>
                </a:solidFill>
                <a:latin typeface="Noto Sans CJK KR"/>
              </a:defRPr>
            </a:pPr>
            <a:r>
              <a:t>브랜치 화면의 웹 실행 캡처. Android APK 재실행·실제 로그인·서버·업로드·지도 검수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